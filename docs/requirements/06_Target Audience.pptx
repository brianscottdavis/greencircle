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6"/>
  </p:notesMasterIdLst>
  <p:sldIdLst>
    <p:sldId id="256" r:id="rId2"/>
    <p:sldId id="257" r:id="rId3"/>
    <p:sldId id="258" r:id="rId4"/>
    <p:sldId id="259" r:id="rId5"/>
    <p:sldId id="260" r:id="rId6"/>
    <p:sldId id="261" r:id="rId7"/>
    <p:sldId id="277" r:id="rId8"/>
    <p:sldId id="278" r:id="rId9"/>
    <p:sldId id="262" r:id="rId10"/>
    <p:sldId id="274" r:id="rId11"/>
    <p:sldId id="275" r:id="rId12"/>
    <p:sldId id="276" r:id="rId13"/>
    <p:sldId id="279" r:id="rId14"/>
    <p:sldId id="263" r:id="rId15"/>
    <p:sldId id="264" r:id="rId16"/>
    <p:sldId id="265" r:id="rId17"/>
    <p:sldId id="266" r:id="rId18"/>
    <p:sldId id="267" r:id="rId19"/>
    <p:sldId id="268" r:id="rId20"/>
    <p:sldId id="269" r:id="rId21"/>
    <p:sldId id="270" r:id="rId22"/>
    <p:sldId id="271" r:id="rId23"/>
    <p:sldId id="272" r:id="rId24"/>
    <p:sldId id="273" r:id="rId25"/>
  </p:sldIdLst>
  <p:sldSz cx="9144000" cy="5143500" type="screen16x9"/>
  <p:notesSz cx="6858000" cy="9144000"/>
  <p:embeddedFontLst>
    <p:embeddedFont>
      <p:font typeface="Georgia" panose="02040502050405020303" pitchFamily="18"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667" autoAdjust="0"/>
  </p:normalViewPr>
  <p:slideViewPr>
    <p:cSldViewPr snapToGrid="0">
      <p:cViewPr varScale="1">
        <p:scale>
          <a:sx n="83" d="100"/>
          <a:sy n="83" d="100"/>
        </p:scale>
        <p:origin x="1020" y="4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8ef96ec69c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8ef96ec69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Aged Care:</a:t>
            </a:r>
          </a:p>
          <a:p>
            <a:pPr marL="0" lvl="0" indent="0" algn="l" rtl="0">
              <a:spcBef>
                <a:spcPts val="0"/>
              </a:spcBef>
              <a:spcAft>
                <a:spcPts val="0"/>
              </a:spcAft>
              <a:buNone/>
            </a:pPr>
            <a:r>
              <a:rPr lang="en-US" dirty="0"/>
              <a:t>Target audience:</a:t>
            </a:r>
          </a:p>
          <a:p>
            <a:pPr marL="0" lvl="0" indent="0" algn="l" rtl="0">
              <a:spcBef>
                <a:spcPts val="0"/>
              </a:spcBef>
              <a:spcAft>
                <a:spcPts val="0"/>
              </a:spcAft>
              <a:buNone/>
            </a:pPr>
            <a:r>
              <a:rPr lang="en-US" dirty="0"/>
              <a:t>Employees? Not detailed enough</a:t>
            </a:r>
          </a:p>
          <a:p>
            <a:pPr marL="0" lvl="0" indent="0" algn="l" rtl="0">
              <a:spcBef>
                <a:spcPts val="0"/>
              </a:spcBef>
              <a:spcAft>
                <a:spcPts val="0"/>
              </a:spcAft>
              <a:buNone/>
            </a:pPr>
            <a:r>
              <a:rPr lang="en-US" dirty="0"/>
              <a:t>Residents? Not detailed enough.</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Can identify  in terms of: Geographic location, Demographic, Psychographic, </a:t>
            </a:r>
            <a:r>
              <a:rPr lang="en-US" dirty="0" err="1"/>
              <a:t>Behaviour</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Geographic locations: Country Australia? Urban area? - Are the employees/residents largely migrants? Are there language issues? Amiable to tech use?</a:t>
            </a:r>
          </a:p>
          <a:p>
            <a:pPr marL="0" lvl="0" indent="0" algn="l" rtl="0">
              <a:spcBef>
                <a:spcPts val="0"/>
              </a:spcBef>
              <a:spcAft>
                <a:spcPts val="0"/>
              </a:spcAft>
              <a:buNone/>
            </a:pPr>
            <a:r>
              <a:rPr lang="en-US" dirty="0"/>
              <a:t>Demographic (dry facts): Are most of the employees/residents' males/females? High/low-income residents? Age range 50-60? 60 -70? 70-80? &gt;80?</a:t>
            </a:r>
          </a:p>
          <a:p>
            <a:pPr marL="0" lvl="0" indent="0" algn="l" rtl="0">
              <a:spcBef>
                <a:spcPts val="0"/>
              </a:spcBef>
              <a:spcAft>
                <a:spcPts val="0"/>
              </a:spcAft>
              <a:buNone/>
            </a:pPr>
            <a:r>
              <a:rPr lang="en-US" dirty="0"/>
              <a:t>Psychographic (motivational issues): What drives the users? Ego? Insecurity? Being valued? Environmental issues? </a:t>
            </a:r>
          </a:p>
          <a:p>
            <a:pPr marL="0" lvl="0" indent="0" algn="l" rtl="0">
              <a:spcBef>
                <a:spcPts val="0"/>
              </a:spcBef>
              <a:spcAft>
                <a:spcPts val="0"/>
              </a:spcAft>
              <a:buNone/>
            </a:pPr>
            <a:r>
              <a:rPr lang="en-US" dirty="0" err="1"/>
              <a:t>Behavioural</a:t>
            </a:r>
            <a:r>
              <a:rPr lang="en-US" dirty="0"/>
              <a:t> segmentation: Hobbies? Beliefs? Tool usage </a:t>
            </a:r>
            <a:r>
              <a:rPr lang="en-US" dirty="0" err="1"/>
              <a:t>behaviour</a:t>
            </a:r>
            <a:r>
              <a:rPr lang="en-US" dirty="0"/>
              <a:t> - Audio, Text, Video interfaces?, Automated actions? Occasions: Valentine’s day? Fathers/Mothers day?</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9604878db7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9604878db7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9604878db7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9604878db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9604878db7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9604878db7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9604878db7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9604878db7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9604878db7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9604878db7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9604878db7_1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9604878db7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9604878db7_1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9604878db7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9604878db7_1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9604878db7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8ef96ec69c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8ef96ec69c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1f24338e2ee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1f24338e2ee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45f843ee01384a89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45f843ee01384a8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8ef96ec69c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8ef96ec69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8ef96ec69c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8ef96ec69c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f24338e2ee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1f24338e2ee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f24338e2ee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f24338e2ee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1f24338e2ee_1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1f24338e2ee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1600"/>
              </a:spcBef>
              <a:spcAft>
                <a:spcPts val="0"/>
              </a:spcAft>
              <a:buClr>
                <a:schemeClr val="dk1"/>
              </a:buClr>
              <a:buSzPts val="1400"/>
              <a:buChar char="○"/>
              <a:defRPr>
                <a:solidFill>
                  <a:schemeClr val="dk1"/>
                </a:solidFill>
              </a:defRPr>
            </a:lvl2pPr>
            <a:lvl3pPr marL="1371600" lvl="2" indent="-317500">
              <a:spcBef>
                <a:spcPts val="1600"/>
              </a:spcBef>
              <a:spcAft>
                <a:spcPts val="0"/>
              </a:spcAft>
              <a:buClr>
                <a:schemeClr val="dk1"/>
              </a:buClr>
              <a:buSzPts val="1400"/>
              <a:buChar char="■"/>
              <a:defRPr>
                <a:solidFill>
                  <a:schemeClr val="dk1"/>
                </a:solidFill>
              </a:defRPr>
            </a:lvl3pPr>
            <a:lvl4pPr marL="1828800" lvl="3" indent="-317500">
              <a:spcBef>
                <a:spcPts val="1600"/>
              </a:spcBef>
              <a:spcAft>
                <a:spcPts val="0"/>
              </a:spcAft>
              <a:buClr>
                <a:schemeClr val="dk1"/>
              </a:buClr>
              <a:buSzPts val="1400"/>
              <a:buChar char="●"/>
              <a:defRPr>
                <a:solidFill>
                  <a:schemeClr val="dk1"/>
                </a:solidFill>
              </a:defRPr>
            </a:lvl4pPr>
            <a:lvl5pPr marL="2286000" lvl="4" indent="-317500">
              <a:spcBef>
                <a:spcPts val="1600"/>
              </a:spcBef>
              <a:spcAft>
                <a:spcPts val="0"/>
              </a:spcAft>
              <a:buClr>
                <a:schemeClr val="dk1"/>
              </a:buClr>
              <a:buSzPts val="1400"/>
              <a:buChar char="○"/>
              <a:defRPr>
                <a:solidFill>
                  <a:schemeClr val="dk1"/>
                </a:solidFill>
              </a:defRPr>
            </a:lvl5pPr>
            <a:lvl6pPr marL="2743200" lvl="5" indent="-317500">
              <a:spcBef>
                <a:spcPts val="1600"/>
              </a:spcBef>
              <a:spcAft>
                <a:spcPts val="0"/>
              </a:spcAft>
              <a:buClr>
                <a:schemeClr val="dk1"/>
              </a:buClr>
              <a:buSzPts val="1400"/>
              <a:buChar char="■"/>
              <a:defRPr>
                <a:solidFill>
                  <a:schemeClr val="dk1"/>
                </a:solidFill>
              </a:defRPr>
            </a:lvl6pPr>
            <a:lvl7pPr marL="3200400" lvl="6" indent="-317500">
              <a:spcBef>
                <a:spcPts val="1600"/>
              </a:spcBef>
              <a:spcAft>
                <a:spcPts val="0"/>
              </a:spcAft>
              <a:buClr>
                <a:schemeClr val="dk1"/>
              </a:buClr>
              <a:buSzPts val="1400"/>
              <a:buChar char="●"/>
              <a:defRPr>
                <a:solidFill>
                  <a:schemeClr val="dk1"/>
                </a:solidFill>
              </a:defRPr>
            </a:lvl7pPr>
            <a:lvl8pPr marL="3657600" lvl="7" indent="-317500">
              <a:spcBef>
                <a:spcPts val="1600"/>
              </a:spcBef>
              <a:spcAft>
                <a:spcPts val="0"/>
              </a:spcAft>
              <a:buClr>
                <a:schemeClr val="dk1"/>
              </a:buClr>
              <a:buSzPts val="1400"/>
              <a:buChar char="○"/>
              <a:defRPr>
                <a:solidFill>
                  <a:schemeClr val="dk1"/>
                </a:solidFill>
              </a:defRPr>
            </a:lvl8pPr>
            <a:lvl9pPr marL="4114800" lvl="8" indent="-317500">
              <a:spcBef>
                <a:spcPts val="1600"/>
              </a:spcBef>
              <a:spcAft>
                <a:spcPts val="160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1600"/>
              </a:spcBef>
              <a:spcAft>
                <a:spcPts val="0"/>
              </a:spcAft>
              <a:buClr>
                <a:schemeClr val="lt2"/>
              </a:buClr>
              <a:buSzPts val="1400"/>
              <a:buChar char="○"/>
              <a:defRPr>
                <a:solidFill>
                  <a:schemeClr val="lt2"/>
                </a:solidFill>
              </a:defRPr>
            </a:lvl2pPr>
            <a:lvl3pPr marL="1371600" lvl="2" indent="-317500">
              <a:lnSpc>
                <a:spcPct val="115000"/>
              </a:lnSpc>
              <a:spcBef>
                <a:spcPts val="1600"/>
              </a:spcBef>
              <a:spcAft>
                <a:spcPts val="0"/>
              </a:spcAft>
              <a:buClr>
                <a:schemeClr val="lt2"/>
              </a:buClr>
              <a:buSzPts val="1400"/>
              <a:buChar char="■"/>
              <a:defRPr>
                <a:solidFill>
                  <a:schemeClr val="lt2"/>
                </a:solidFill>
              </a:defRPr>
            </a:lvl3pPr>
            <a:lvl4pPr marL="1828800" lvl="3" indent="-317500">
              <a:lnSpc>
                <a:spcPct val="115000"/>
              </a:lnSpc>
              <a:spcBef>
                <a:spcPts val="1600"/>
              </a:spcBef>
              <a:spcAft>
                <a:spcPts val="0"/>
              </a:spcAft>
              <a:buClr>
                <a:schemeClr val="lt2"/>
              </a:buClr>
              <a:buSzPts val="1400"/>
              <a:buChar char="●"/>
              <a:defRPr>
                <a:solidFill>
                  <a:schemeClr val="lt2"/>
                </a:solidFill>
              </a:defRPr>
            </a:lvl4pPr>
            <a:lvl5pPr marL="2286000" lvl="4" indent="-317500">
              <a:lnSpc>
                <a:spcPct val="115000"/>
              </a:lnSpc>
              <a:spcBef>
                <a:spcPts val="1600"/>
              </a:spcBef>
              <a:spcAft>
                <a:spcPts val="0"/>
              </a:spcAft>
              <a:buClr>
                <a:schemeClr val="lt2"/>
              </a:buClr>
              <a:buSzPts val="1400"/>
              <a:buChar char="○"/>
              <a:defRPr>
                <a:solidFill>
                  <a:schemeClr val="lt2"/>
                </a:solidFill>
              </a:defRPr>
            </a:lvl5pPr>
            <a:lvl6pPr marL="2743200" lvl="5" indent="-317500">
              <a:lnSpc>
                <a:spcPct val="115000"/>
              </a:lnSpc>
              <a:spcBef>
                <a:spcPts val="1600"/>
              </a:spcBef>
              <a:spcAft>
                <a:spcPts val="0"/>
              </a:spcAft>
              <a:buClr>
                <a:schemeClr val="lt2"/>
              </a:buClr>
              <a:buSzPts val="1400"/>
              <a:buChar char="■"/>
              <a:defRPr>
                <a:solidFill>
                  <a:schemeClr val="lt2"/>
                </a:solidFill>
              </a:defRPr>
            </a:lvl6pPr>
            <a:lvl7pPr marL="3200400" lvl="6" indent="-317500">
              <a:lnSpc>
                <a:spcPct val="115000"/>
              </a:lnSpc>
              <a:spcBef>
                <a:spcPts val="1600"/>
              </a:spcBef>
              <a:spcAft>
                <a:spcPts val="0"/>
              </a:spcAft>
              <a:buClr>
                <a:schemeClr val="lt2"/>
              </a:buClr>
              <a:buSzPts val="1400"/>
              <a:buChar char="●"/>
              <a:defRPr>
                <a:solidFill>
                  <a:schemeClr val="lt2"/>
                </a:solidFill>
              </a:defRPr>
            </a:lvl7pPr>
            <a:lvl8pPr marL="3657600" lvl="7" indent="-317500">
              <a:lnSpc>
                <a:spcPct val="115000"/>
              </a:lnSpc>
              <a:spcBef>
                <a:spcPts val="1600"/>
              </a:spcBef>
              <a:spcAft>
                <a:spcPts val="0"/>
              </a:spcAft>
              <a:buClr>
                <a:schemeClr val="lt2"/>
              </a:buClr>
              <a:buSzPts val="1400"/>
              <a:buChar char="○"/>
              <a:defRPr>
                <a:solidFill>
                  <a:schemeClr val="lt2"/>
                </a:solidFill>
              </a:defRPr>
            </a:lvl8pPr>
            <a:lvl9pPr marL="4114800" lvl="8" indent="-317500">
              <a:lnSpc>
                <a:spcPct val="115000"/>
              </a:lnSpc>
              <a:spcBef>
                <a:spcPts val="1600"/>
              </a:spcBef>
              <a:spcAft>
                <a:spcPts val="160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www.olg.nsw.gov.au/public/dogs-cats/responsible-pet-ownership/pound-and-dog-attack-statistics/"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https://www.rspca.org.au/what-we-do/our-role-caring-animals/annual-statistic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www.villages.com.au/aged-care/nsw/eastern-suburbs/area"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hyperlink" Target="https://www.gen-agedcaredata.gov.au/Topics/People-using-aged-care" TargetMode="External"/><Relationship Id="rId4" Type="http://schemas.openxmlformats.org/officeDocument/2006/relationships/hyperlink" Target="https://www.gen-agedcaredata.gov.au/www_aihwgen/media/2020-21-GEN-Topic-Updates/Admissions%20into%20aged%20care/Admissions_fact-sheet-2021.pdf?ext=.pdf"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238250" y="1019475"/>
            <a:ext cx="6667500" cy="4000500"/>
          </a:xfrm>
          <a:prstGeom prst="rect">
            <a:avLst/>
          </a:prstGeom>
          <a:noFill/>
          <a:ln>
            <a:noFill/>
          </a:ln>
        </p:spPr>
      </p:pic>
      <p:sp>
        <p:nvSpPr>
          <p:cNvPr id="55" name="Google Shape;55;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br>
              <a:rPr lang="en">
                <a:solidFill>
                  <a:srgbClr val="45818E"/>
                </a:solidFill>
              </a:rPr>
            </a:br>
            <a:r>
              <a:rPr lang="en">
                <a:solidFill>
                  <a:srgbClr val="45818E"/>
                </a:solidFill>
              </a:rPr>
              <a:t>UX</a:t>
            </a:r>
            <a:endParaRPr>
              <a:solidFill>
                <a:srgbClr val="45818E"/>
              </a:solidFill>
            </a:endParaRPr>
          </a:p>
          <a:p>
            <a:pPr marL="0" lvl="0" indent="0" algn="ctr" rtl="0">
              <a:spcBef>
                <a:spcPts val="0"/>
              </a:spcBef>
              <a:spcAft>
                <a:spcPts val="0"/>
              </a:spcAft>
              <a:buNone/>
            </a:pPr>
            <a:r>
              <a:rPr lang="en">
                <a:solidFill>
                  <a:srgbClr val="45818E"/>
                </a:solidFill>
              </a:rPr>
              <a:t>Target Audience</a:t>
            </a:r>
            <a:endParaRPr>
              <a:solidFill>
                <a:srgbClr val="45818E"/>
              </a:solidFill>
            </a:endParaRPr>
          </a:p>
        </p:txBody>
      </p:sp>
      <p:sp>
        <p:nvSpPr>
          <p:cNvPr id="56" name="Google Shape;56;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IST 2022</a:t>
            </a:r>
            <a:endParaRPr/>
          </a:p>
        </p:txBody>
      </p:sp>
      <p:sp>
        <p:nvSpPr>
          <p:cNvPr id="57" name="Google Shape;57;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br>
              <a:rPr lang="en"/>
            </a:br>
            <a:r>
              <a:rPr lang="en"/>
              <a:t>UX</a:t>
            </a:r>
            <a:endParaRPr/>
          </a:p>
          <a:p>
            <a:pPr marL="0" lvl="0" indent="0" algn="ctr" rtl="0">
              <a:spcBef>
                <a:spcPts val="0"/>
              </a:spcBef>
              <a:spcAft>
                <a:spcPts val="0"/>
              </a:spcAft>
              <a:buNone/>
            </a:pPr>
            <a:r>
              <a:rPr lang="en"/>
              <a:t>Target Audience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What is a target audience?</a:t>
            </a:r>
            <a:endParaRPr sz="1800">
              <a:solidFill>
                <a:schemeClr val="lt2"/>
              </a:solidFill>
            </a:endParaRPr>
          </a:p>
          <a:p>
            <a:pPr marL="0" lvl="0" indent="0" algn="l" rtl="0">
              <a:spcBef>
                <a:spcPts val="1600"/>
              </a:spcBef>
              <a:spcAft>
                <a:spcPts val="0"/>
              </a:spcAft>
              <a:buNone/>
            </a:pPr>
            <a:endParaRPr/>
          </a:p>
        </p:txBody>
      </p:sp>
      <p:sp>
        <p:nvSpPr>
          <p:cNvPr id="63" name="Google Shape;63;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marR="0" lvl="0" indent="0" algn="l" rtl="0">
              <a:lnSpc>
                <a:spcPct val="100000"/>
              </a:lnSpc>
              <a:spcBef>
                <a:spcPts val="3200"/>
              </a:spcBef>
              <a:spcAft>
                <a:spcPts val="0"/>
              </a:spcAft>
              <a:buNone/>
            </a:pPr>
            <a:r>
              <a:rPr lang="en"/>
              <a:t>The group of humans you expect to use your products. This may be a result of identifying a need amongst a group or generating a need in a group. </a:t>
            </a:r>
            <a:endParaRPr/>
          </a:p>
          <a:p>
            <a:pPr marL="0" marR="0" lvl="0" indent="0" algn="l" rtl="0">
              <a:lnSpc>
                <a:spcPct val="100000"/>
              </a:lnSpc>
              <a:spcBef>
                <a:spcPts val="3200"/>
              </a:spcBef>
              <a:spcAft>
                <a:spcPts val="0"/>
              </a:spcAft>
              <a:buNone/>
            </a:pPr>
            <a:r>
              <a:rPr lang="en"/>
              <a:t>But without knowing who will use the item, it is impossible to make it the best it can be.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Who is your target audience?</a:t>
            </a:r>
            <a:endParaRPr sz="1800">
              <a:solidFill>
                <a:schemeClr val="lt2"/>
              </a:solidFill>
            </a:endParaRPr>
          </a:p>
          <a:p>
            <a:pPr marL="0" lvl="0" indent="0" algn="l" rtl="0">
              <a:spcBef>
                <a:spcPts val="1600"/>
              </a:spcBef>
              <a:spcAft>
                <a:spcPts val="0"/>
              </a:spcAft>
              <a:buNone/>
            </a:pPr>
            <a:endParaRPr/>
          </a:p>
        </p:txBody>
      </p:sp>
      <p:sp>
        <p:nvSpPr>
          <p:cNvPr id="69" name="Google Shape;69;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If you say “millennials” or “German speakers” or “Australians”, then you’re just scratching the surface.</a:t>
            </a:r>
            <a:endParaRPr sz="1600">
              <a:solidFill>
                <a:srgbClr val="292929"/>
              </a:solidFill>
              <a:highlight>
                <a:srgbClr val="FFFFFF"/>
              </a:highlight>
              <a:latin typeface="Georgia"/>
              <a:ea typeface="Georgia"/>
              <a:cs typeface="Georgia"/>
              <a:sym typeface="Georgia"/>
            </a:endParaRPr>
          </a:p>
          <a:p>
            <a:pPr marL="0" marR="0" lvl="0" indent="0" algn="l" rtl="0">
              <a:lnSpc>
                <a:spcPct val="100000"/>
              </a:lnSpc>
              <a:spcBef>
                <a:spcPts val="3200"/>
              </a:spcBef>
              <a:spcAft>
                <a:spcPts val="0"/>
              </a:spcAft>
              <a:buNone/>
            </a:pPr>
            <a:r>
              <a:rPr lang="en"/>
              <a:t>For instance, there are hundreds of different types of Australians — some are vegans, others love meat; some like skydiving, others are happy with just surfing; some own motorbikes, others are scared of them; some have an income of $1 million a year, others live paycheck to paycheck.</a:t>
            </a:r>
            <a:endParaRPr/>
          </a:p>
          <a:p>
            <a:pPr marL="0" marR="0" lvl="0" indent="0" algn="l" rtl="0">
              <a:lnSpc>
                <a:spcPct val="100000"/>
              </a:lnSpc>
              <a:spcBef>
                <a:spcPts val="3200"/>
              </a:spcBef>
              <a:spcAft>
                <a:spcPts val="0"/>
              </a:spcAft>
              <a:buNone/>
            </a:pPr>
            <a:r>
              <a:rPr lang="en"/>
              <a:t>The same applies to every target audience that you broadly define. You have to dig deeper.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Start with Segmentation</a:t>
            </a:r>
            <a:endParaRPr/>
          </a:p>
        </p:txBody>
      </p:sp>
      <p:sp>
        <p:nvSpPr>
          <p:cNvPr id="75" name="Google Shape;75;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76" name="Google Shape;76;p16"/>
          <p:cNvPicPr preferRelativeResize="0"/>
          <p:nvPr/>
        </p:nvPicPr>
        <p:blipFill>
          <a:blip r:embed="rId3">
            <a:alphaModFix/>
          </a:blip>
          <a:stretch>
            <a:fillRect/>
          </a:stretch>
        </p:blipFill>
        <p:spPr>
          <a:xfrm>
            <a:off x="991250" y="1152475"/>
            <a:ext cx="6752249" cy="3786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Geographical Segmentation</a:t>
            </a:r>
            <a:endParaRPr/>
          </a:p>
        </p:txBody>
      </p:sp>
      <p:sp>
        <p:nvSpPr>
          <p:cNvPr id="82" name="Google Shape;82;p17"/>
          <p:cNvSpPr txBox="1">
            <a:spLocks noGrp="1"/>
          </p:cNvSpPr>
          <p:nvPr>
            <p:ph type="body" idx="1"/>
          </p:nvPr>
        </p:nvSpPr>
        <p:spPr>
          <a:xfrm>
            <a:off x="311700" y="1152474"/>
            <a:ext cx="8520600" cy="3947559"/>
          </a:xfrm>
          <a:prstGeom prst="rect">
            <a:avLst/>
          </a:prstGeom>
        </p:spPr>
        <p:txBody>
          <a:bodyPr spcFirstLastPara="1" wrap="square" lIns="91425" tIns="91425" rIns="91425" bIns="91425" anchor="t" anchorCtr="0">
            <a:noAutofit/>
          </a:bodyPr>
          <a:lstStyle/>
          <a:p>
            <a:pPr marL="0" lvl="0" indent="0" algn="l" rtl="0">
              <a:lnSpc>
                <a:spcPct val="100000"/>
              </a:lnSpc>
              <a:spcBef>
                <a:spcPts val="3200"/>
              </a:spcBef>
              <a:spcAft>
                <a:spcPts val="0"/>
              </a:spcAft>
              <a:buNone/>
            </a:pPr>
            <a:r>
              <a:rPr lang="en" dirty="0"/>
              <a:t>This segment consists of the geographical region/s you’re targeting. There may be location issues/ language barriers /attitudinal concerns towards your product. </a:t>
            </a:r>
            <a:endParaRPr dirty="0"/>
          </a:p>
          <a:p>
            <a:pPr marL="0" lvl="0" indent="0" algn="l" rtl="0">
              <a:lnSpc>
                <a:spcPct val="100000"/>
              </a:lnSpc>
              <a:spcBef>
                <a:spcPts val="3200"/>
              </a:spcBef>
              <a:spcAft>
                <a:spcPts val="0"/>
              </a:spcAft>
              <a:buNone/>
            </a:pPr>
            <a:r>
              <a:rPr lang="en" dirty="0"/>
              <a:t>Understanding the region helps with identifying the user.</a:t>
            </a:r>
          </a:p>
          <a:p>
            <a:pPr marL="0" lvl="0" indent="0" algn="l" rtl="0">
              <a:lnSpc>
                <a:spcPct val="100000"/>
              </a:lnSpc>
              <a:spcBef>
                <a:spcPts val="3200"/>
              </a:spcBef>
              <a:spcAft>
                <a:spcPts val="0"/>
              </a:spcAft>
              <a:buNone/>
            </a:pPr>
            <a:r>
              <a:rPr lang="en" dirty="0"/>
              <a:t>Based on your location Google ads that appear on your smartphone may change</a:t>
            </a:r>
          </a:p>
          <a:p>
            <a:pPr marL="0" lvl="0" indent="0" algn="l" rtl="0">
              <a:lnSpc>
                <a:spcPct val="100000"/>
              </a:lnSpc>
              <a:spcBef>
                <a:spcPts val="3200"/>
              </a:spcBef>
              <a:spcAft>
                <a:spcPts val="0"/>
              </a:spcAft>
              <a:buNone/>
            </a:pPr>
            <a:r>
              <a:rPr lang="en" dirty="0"/>
              <a:t>Based on the climate at your location the products sought will change</a:t>
            </a:r>
          </a:p>
          <a:p>
            <a:pPr marL="0" lvl="0" indent="0" algn="l" rtl="0">
              <a:lnSpc>
                <a:spcPct val="100000"/>
              </a:lnSpc>
              <a:spcBef>
                <a:spcPts val="3200"/>
              </a:spcBef>
              <a:spcAft>
                <a:spcPts val="0"/>
              </a:spcAft>
              <a:buNone/>
            </a:pPr>
            <a:r>
              <a:rPr lang="en-AU" dirty="0"/>
              <a:t>McDonald’s menu changes based on the location.  E.g. Thailand vs Australia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Demographics</a:t>
            </a:r>
            <a:endParaRPr/>
          </a:p>
        </p:txBody>
      </p:sp>
      <p:sp>
        <p:nvSpPr>
          <p:cNvPr id="88" name="Google Shape;88;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This is where we consider age, gender, race, life stage, social status, income, etc. </a:t>
            </a: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r>
              <a:rPr lang="en"/>
              <a:t>If you’re designing a site about parenting, the segment you want to target is, of course, parents.</a:t>
            </a:r>
            <a:endParaRPr/>
          </a:p>
          <a:p>
            <a:pPr marL="0" lvl="0" indent="0" algn="l" rtl="0">
              <a:lnSpc>
                <a:spcPct val="100000"/>
              </a:lnSpc>
              <a:spcBef>
                <a:spcPts val="3200"/>
              </a:spcBef>
              <a:spcAft>
                <a:spcPts val="0"/>
              </a:spcAft>
              <a:buNone/>
            </a:pPr>
            <a:r>
              <a:rPr lang="en"/>
              <a:t>But you can be more specific using demographic segmentation, for example, your audience could be pregnant mothers in their early 20s with an income of over $4,000 a month.</a:t>
            </a:r>
            <a:endParaRPr sz="1600">
              <a:solidFill>
                <a:srgbClr val="292929"/>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endParaRPr sz="1100">
              <a:solidFill>
                <a:srgbClr val="000000"/>
              </a:solidFill>
            </a:endParaRPr>
          </a:p>
          <a:p>
            <a:pPr marL="0" lvl="0" indent="0" algn="l" rtl="0">
              <a:lnSpc>
                <a:spcPct val="100000"/>
              </a:lnSpc>
              <a:spcBef>
                <a:spcPts val="0"/>
              </a:spcBef>
              <a:spcAft>
                <a:spcPts val="160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8240C-E07F-AE9B-E397-9A573306F53C}"/>
              </a:ext>
            </a:extLst>
          </p:cNvPr>
          <p:cNvSpPr>
            <a:spLocks noGrp="1"/>
          </p:cNvSpPr>
          <p:nvPr>
            <p:ph type="title"/>
          </p:nvPr>
        </p:nvSpPr>
        <p:spPr/>
        <p:txBody>
          <a:bodyPr/>
          <a:lstStyle/>
          <a:p>
            <a:r>
              <a:rPr lang="en-AU" dirty="0"/>
              <a:t>Example of Demographic Segmentation</a:t>
            </a:r>
          </a:p>
        </p:txBody>
      </p:sp>
      <p:sp>
        <p:nvSpPr>
          <p:cNvPr id="3" name="Text Placeholder 2">
            <a:extLst>
              <a:ext uri="{FF2B5EF4-FFF2-40B4-BE49-F238E27FC236}">
                <a16:creationId xmlns:a16="http://schemas.microsoft.com/office/drawing/2014/main" id="{B19AE0F0-F16B-7B1D-F64C-E10236140914}"/>
              </a:ext>
            </a:extLst>
          </p:cNvPr>
          <p:cNvSpPr>
            <a:spLocks noGrp="1"/>
          </p:cNvSpPr>
          <p:nvPr>
            <p:ph type="body" idx="1"/>
          </p:nvPr>
        </p:nvSpPr>
        <p:spPr/>
        <p:txBody>
          <a:bodyPr/>
          <a:lstStyle/>
          <a:p>
            <a:r>
              <a:rPr lang="en-US" dirty="0"/>
              <a:t>Segmenting and marketing based on family circumstances</a:t>
            </a:r>
          </a:p>
          <a:p>
            <a:r>
              <a:rPr lang="en-US" dirty="0"/>
              <a:t>If you’re a </a:t>
            </a:r>
            <a:r>
              <a:rPr lang="en-US" dirty="0" err="1"/>
              <a:t>jewellery</a:t>
            </a:r>
            <a:r>
              <a:rPr lang="en-US" dirty="0"/>
              <a:t> company, your marketing strategies will vary greatly based on whether the people in your demographic segments are married or unmarried. For example, you’d probably run marketing campaigns and ad-spend around engagement rings at unmarried people, and also those in the 25-35 age range, rather than wasting time and money attempting to market those items to people who’re either married or too young to be.</a:t>
            </a:r>
          </a:p>
          <a:p>
            <a:endParaRPr lang="en-US" dirty="0"/>
          </a:p>
          <a:p>
            <a:r>
              <a:rPr lang="en-AU" dirty="0"/>
              <a:t>https://www.qualtrics.com/au/experience-management/brand/demographic-segmentation/</a:t>
            </a:r>
          </a:p>
        </p:txBody>
      </p:sp>
    </p:spTree>
    <p:extLst>
      <p:ext uri="{BB962C8B-B14F-4D97-AF65-F5344CB8AC3E}">
        <p14:creationId xmlns:p14="http://schemas.microsoft.com/office/powerpoint/2010/main" val="2004573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BEDD6-E3AE-1F0C-D282-2164C5ACE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84244-717B-14B0-25E7-7862D4D9F01E}"/>
              </a:ext>
            </a:extLst>
          </p:cNvPr>
          <p:cNvSpPr>
            <a:spLocks noGrp="1"/>
          </p:cNvSpPr>
          <p:nvPr>
            <p:ph type="title"/>
          </p:nvPr>
        </p:nvSpPr>
        <p:spPr/>
        <p:txBody>
          <a:bodyPr/>
          <a:lstStyle/>
          <a:p>
            <a:r>
              <a:rPr lang="en-AU" dirty="0"/>
              <a:t>Example of Demographic Segmentation</a:t>
            </a:r>
          </a:p>
        </p:txBody>
      </p:sp>
      <p:sp>
        <p:nvSpPr>
          <p:cNvPr id="3" name="Text Placeholder 2">
            <a:extLst>
              <a:ext uri="{FF2B5EF4-FFF2-40B4-BE49-F238E27FC236}">
                <a16:creationId xmlns:a16="http://schemas.microsoft.com/office/drawing/2014/main" id="{342D5A64-1395-6539-A831-B3958B268A6C}"/>
              </a:ext>
            </a:extLst>
          </p:cNvPr>
          <p:cNvSpPr>
            <a:spLocks noGrp="1"/>
          </p:cNvSpPr>
          <p:nvPr>
            <p:ph type="body" idx="1"/>
          </p:nvPr>
        </p:nvSpPr>
        <p:spPr/>
        <p:txBody>
          <a:bodyPr/>
          <a:lstStyle/>
          <a:p>
            <a:r>
              <a:rPr lang="en-US" dirty="0"/>
              <a:t>Segmenting and marketing based on income</a:t>
            </a:r>
          </a:p>
          <a:p>
            <a:r>
              <a:rPr lang="en-US" dirty="0"/>
              <a:t>Vacation companies that offer a wide range of trips will be keenly aware that demographic segmentation variables make all the difference in terms of converting sales through bespoke marketing. Budget backpacking vacations naturally attract a much different audience to luxury Caribbean all-inclusive packages – but the first step towards targeting each of those target audience types with the right material is running demographic segmentation based on income.</a:t>
            </a:r>
          </a:p>
          <a:p>
            <a:endParaRPr lang="en-US" dirty="0"/>
          </a:p>
          <a:p>
            <a:r>
              <a:rPr lang="en-AU" dirty="0"/>
              <a:t>https://www.qualtrics.com/au/experience-management/brand/demographic-segmentation/</a:t>
            </a:r>
          </a:p>
        </p:txBody>
      </p:sp>
    </p:spTree>
    <p:extLst>
      <p:ext uri="{BB962C8B-B14F-4D97-AF65-F5344CB8AC3E}">
        <p14:creationId xmlns:p14="http://schemas.microsoft.com/office/powerpoint/2010/main" val="1156255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Psychographic segmentation</a:t>
            </a:r>
            <a:endParaRPr/>
          </a:p>
          <a:p>
            <a:pPr marL="0" lvl="0" indent="0" algn="l" rtl="0">
              <a:spcBef>
                <a:spcPts val="0"/>
              </a:spcBef>
              <a:spcAft>
                <a:spcPts val="0"/>
              </a:spcAft>
              <a:buNone/>
            </a:pPr>
            <a:endParaRPr/>
          </a:p>
        </p:txBody>
      </p:sp>
      <p:sp>
        <p:nvSpPr>
          <p:cNvPr id="94" name="Google Shape;94;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This is where you dig deeper into the psyche of your audience. There’s one thing that I have noticed a lot in marketing — don’t just listen to what your customers say, you also have to listen to what they don’t say.</a:t>
            </a:r>
            <a:endParaRPr sz="1600">
              <a:solidFill>
                <a:srgbClr val="292929"/>
              </a:solidFill>
              <a:highlight>
                <a:srgbClr val="FFFFFF"/>
              </a:highlight>
              <a:latin typeface="Georgia"/>
              <a:ea typeface="Georgia"/>
              <a:cs typeface="Georgia"/>
              <a:sym typeface="Georgia"/>
            </a:endParaRPr>
          </a:p>
          <a:p>
            <a:pPr marL="0" lvl="0" indent="0" algn="l" rtl="0">
              <a:lnSpc>
                <a:spcPct val="100000"/>
              </a:lnSpc>
              <a:spcBef>
                <a:spcPts val="3200"/>
              </a:spcBef>
              <a:spcAft>
                <a:spcPts val="0"/>
              </a:spcAft>
              <a:buNone/>
            </a:pPr>
            <a:r>
              <a:rPr lang="en"/>
              <a:t>It’s your job to understand what motivates your customers to buy your product, and you can do that using psychographic segmentation.</a:t>
            </a:r>
            <a:endParaRPr sz="1600">
              <a:solidFill>
                <a:srgbClr val="292929"/>
              </a:solidFill>
              <a:highlight>
                <a:srgbClr val="E9FDF0"/>
              </a:highlight>
              <a:latin typeface="Georgia"/>
              <a:ea typeface="Georgia"/>
              <a:cs typeface="Georgia"/>
              <a:sym typeface="Georgia"/>
            </a:endParaRPr>
          </a:p>
          <a:p>
            <a:pPr marL="0" lvl="0" indent="0" algn="l" rtl="0">
              <a:lnSpc>
                <a:spcPct val="100000"/>
              </a:lnSpc>
              <a:spcBef>
                <a:spcPts val="3200"/>
              </a:spcBef>
              <a:spcAft>
                <a:spcPts val="0"/>
              </a:spcAft>
              <a:buNone/>
            </a:pPr>
            <a:r>
              <a:rPr lang="en"/>
              <a:t>For example, some people buy a Lamborghini to boost their egos, but someone may buy it because they’re insecure about their physical appearance and want to compensate for that using an expensive car.</a:t>
            </a:r>
            <a:endParaRPr sz="1600">
              <a:solidFill>
                <a:srgbClr val="292929"/>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sz="1100">
              <a:solidFill>
                <a:srgbClr val="000000"/>
              </a:solidFill>
            </a:endParaRPr>
          </a:p>
          <a:p>
            <a:pPr marL="0" lvl="0" indent="0" algn="l" rtl="0">
              <a:lnSpc>
                <a:spcPct val="100000"/>
              </a:lnSpc>
              <a:spcBef>
                <a:spcPts val="0"/>
              </a:spcBef>
              <a:spcAft>
                <a:spcPts val="16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C476D-D66D-5015-B6D6-10B94DC8182C}"/>
              </a:ext>
            </a:extLst>
          </p:cNvPr>
          <p:cNvSpPr>
            <a:spLocks noGrp="1"/>
          </p:cNvSpPr>
          <p:nvPr>
            <p:ph type="title"/>
          </p:nvPr>
        </p:nvSpPr>
        <p:spPr>
          <a:xfrm>
            <a:off x="218567" y="110591"/>
            <a:ext cx="8520600" cy="973141"/>
          </a:xfrm>
        </p:spPr>
        <p:txBody>
          <a:bodyPr/>
          <a:lstStyle/>
          <a:p>
            <a:r>
              <a:rPr lang="en-US" dirty="0"/>
              <a:t>Examples of companies using psychographic segmentation</a:t>
            </a:r>
            <a:endParaRPr lang="en-AU" dirty="0"/>
          </a:p>
        </p:txBody>
      </p:sp>
      <p:sp>
        <p:nvSpPr>
          <p:cNvPr id="3" name="Text Placeholder 2">
            <a:extLst>
              <a:ext uri="{FF2B5EF4-FFF2-40B4-BE49-F238E27FC236}">
                <a16:creationId xmlns:a16="http://schemas.microsoft.com/office/drawing/2014/main" id="{54D4A50D-007A-8CEC-D491-8E6860404FCC}"/>
              </a:ext>
            </a:extLst>
          </p:cNvPr>
          <p:cNvSpPr>
            <a:spLocks noGrp="1"/>
          </p:cNvSpPr>
          <p:nvPr>
            <p:ph type="body" idx="1"/>
          </p:nvPr>
        </p:nvSpPr>
        <p:spPr/>
        <p:txBody>
          <a:bodyPr/>
          <a:lstStyle/>
          <a:p>
            <a:pPr marL="114300" indent="0">
              <a:buNone/>
            </a:pPr>
            <a:r>
              <a:rPr lang="en-US" dirty="0"/>
              <a:t>Patagonia</a:t>
            </a:r>
          </a:p>
          <a:p>
            <a:r>
              <a:rPr lang="en-US" dirty="0" err="1"/>
              <a:t>Recognising</a:t>
            </a:r>
            <a:r>
              <a:rPr lang="en-US" dirty="0"/>
              <a:t> the mindset of environmentally conscious outdoor enthusiasts, Patagonia tailored its branding to </a:t>
            </a:r>
            <a:r>
              <a:rPr lang="en-US" dirty="0" err="1"/>
              <a:t>emphasise</a:t>
            </a:r>
            <a:r>
              <a:rPr lang="en-US" dirty="0"/>
              <a:t> sustainability and responsibility.</a:t>
            </a:r>
          </a:p>
          <a:p>
            <a:endParaRPr lang="en-US" dirty="0"/>
          </a:p>
          <a:p>
            <a:r>
              <a:rPr lang="en-US" dirty="0"/>
              <a:t>Their “Don’t Buy This Jacket” campaign challenged consumers to consider the environmental impact of their purchases, advocating for buying less and instead extending the lifespan of each item. Similarly, the brand’s long-lasting Worn Wear initiative encourages customers to trade in their Patagonia gear for repairs. Both speak directly to the eco-conscious values of their target audience.</a:t>
            </a:r>
            <a:endParaRPr lang="en-AU" dirty="0"/>
          </a:p>
        </p:txBody>
      </p:sp>
    </p:spTree>
    <p:extLst>
      <p:ext uri="{BB962C8B-B14F-4D97-AF65-F5344CB8AC3E}">
        <p14:creationId xmlns:p14="http://schemas.microsoft.com/office/powerpoint/2010/main" val="7614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DE8708-295C-EFBD-F4E0-0EA01D82EFF2}"/>
              </a:ext>
            </a:extLst>
          </p:cNvPr>
          <p:cNvSpPr>
            <a:spLocks noGrp="1"/>
          </p:cNvSpPr>
          <p:nvPr>
            <p:ph type="body" idx="1"/>
          </p:nvPr>
        </p:nvSpPr>
        <p:spPr/>
        <p:txBody>
          <a:bodyPr/>
          <a:lstStyle/>
          <a:p>
            <a:pPr marL="114300" indent="0">
              <a:buNone/>
            </a:pPr>
            <a:r>
              <a:rPr lang="en-US" dirty="0"/>
              <a:t>Snapchat</a:t>
            </a:r>
          </a:p>
          <a:p>
            <a:r>
              <a:rPr lang="en-US" dirty="0"/>
              <a:t>Tech company Snapchat really got what young people wanted from a messenger app – pioneering a quick, fun and fleeting form of communication. They took this idea further by introducing ‘Stories’, which only lasted 24 hours, and </a:t>
            </a:r>
            <a:r>
              <a:rPr lang="en-US" dirty="0" err="1"/>
              <a:t>geofilters</a:t>
            </a:r>
            <a:r>
              <a:rPr lang="en-US" dirty="0"/>
              <a:t> to let users show where they are in a fun way.</a:t>
            </a:r>
          </a:p>
          <a:p>
            <a:endParaRPr lang="en-US" dirty="0"/>
          </a:p>
          <a:p>
            <a:r>
              <a:rPr lang="en-US" dirty="0"/>
              <a:t>These features tapped into a younger generation’s love for spontaneous online moments.</a:t>
            </a:r>
            <a:endParaRPr lang="en-AU" dirty="0"/>
          </a:p>
        </p:txBody>
      </p:sp>
      <p:sp>
        <p:nvSpPr>
          <p:cNvPr id="4" name="Title 1">
            <a:extLst>
              <a:ext uri="{FF2B5EF4-FFF2-40B4-BE49-F238E27FC236}">
                <a16:creationId xmlns:a16="http://schemas.microsoft.com/office/drawing/2014/main" id="{D2143880-F453-E62E-BADB-17E514567CE5}"/>
              </a:ext>
            </a:extLst>
          </p:cNvPr>
          <p:cNvSpPr>
            <a:spLocks noGrp="1"/>
          </p:cNvSpPr>
          <p:nvPr>
            <p:ph type="title"/>
          </p:nvPr>
        </p:nvSpPr>
        <p:spPr>
          <a:xfrm>
            <a:off x="209550" y="122767"/>
            <a:ext cx="8521700" cy="573088"/>
          </a:xfrm>
        </p:spPr>
        <p:txBody>
          <a:bodyPr/>
          <a:lstStyle/>
          <a:p>
            <a:r>
              <a:rPr lang="en-US" dirty="0"/>
              <a:t>Examples of companies using psychographic segmentation</a:t>
            </a:r>
            <a:endParaRPr lang="en-AU" dirty="0"/>
          </a:p>
        </p:txBody>
      </p:sp>
    </p:spTree>
    <p:extLst>
      <p:ext uri="{BB962C8B-B14F-4D97-AF65-F5344CB8AC3E}">
        <p14:creationId xmlns:p14="http://schemas.microsoft.com/office/powerpoint/2010/main" val="252127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7DA6D-767C-3BB6-2CC4-FA7EA287A222}"/>
              </a:ext>
            </a:extLst>
          </p:cNvPr>
          <p:cNvSpPr>
            <a:spLocks noGrp="1"/>
          </p:cNvSpPr>
          <p:nvPr>
            <p:ph type="title"/>
          </p:nvPr>
        </p:nvSpPr>
        <p:spPr>
          <a:xfrm>
            <a:off x="222800" y="97892"/>
            <a:ext cx="8520600" cy="572700"/>
          </a:xfrm>
        </p:spPr>
        <p:txBody>
          <a:bodyPr/>
          <a:lstStyle/>
          <a:p>
            <a:r>
              <a:rPr lang="en-US" dirty="0"/>
              <a:t>Examples of companies using psychographic segmentation</a:t>
            </a:r>
            <a:endParaRPr lang="en-AU" dirty="0"/>
          </a:p>
        </p:txBody>
      </p:sp>
      <p:sp>
        <p:nvSpPr>
          <p:cNvPr id="3" name="Text Placeholder 2">
            <a:extLst>
              <a:ext uri="{FF2B5EF4-FFF2-40B4-BE49-F238E27FC236}">
                <a16:creationId xmlns:a16="http://schemas.microsoft.com/office/drawing/2014/main" id="{73E77707-6004-77B3-C0C7-9D5F093AF0AB}"/>
              </a:ext>
            </a:extLst>
          </p:cNvPr>
          <p:cNvSpPr>
            <a:spLocks noGrp="1"/>
          </p:cNvSpPr>
          <p:nvPr>
            <p:ph type="body" idx="1"/>
          </p:nvPr>
        </p:nvSpPr>
        <p:spPr/>
        <p:txBody>
          <a:bodyPr/>
          <a:lstStyle/>
          <a:p>
            <a:r>
              <a:rPr lang="en-US" dirty="0"/>
              <a:t>Harley Davidson</a:t>
            </a:r>
          </a:p>
          <a:p>
            <a:r>
              <a:rPr lang="en-US" dirty="0"/>
              <a:t>Harley Davidson isn’t just selling motorcycles; they’re selling an experience steeped in freedom, adventure and community. The brand understands that their target audience don’t just see bikes as modes of transport, but as symbols of a distinct lifestyle. By hosting events like the Sturgis Motorcycle Rally, Harley nurtures this sense of belonging and camaraderie.</a:t>
            </a:r>
          </a:p>
          <a:p>
            <a:endParaRPr lang="en-US" dirty="0"/>
          </a:p>
          <a:p>
            <a:r>
              <a:rPr lang="en-US" dirty="0"/>
              <a:t>Their success in psychographic segmentation lies in tapping into these deep-rooted emotions and values, ensuring that their marketing and products resonate with the dreams and aspirations of their audience.</a:t>
            </a:r>
            <a:endParaRPr lang="en-AU" dirty="0"/>
          </a:p>
        </p:txBody>
      </p:sp>
    </p:spTree>
    <p:extLst>
      <p:ext uri="{BB962C8B-B14F-4D97-AF65-F5344CB8AC3E}">
        <p14:creationId xmlns:p14="http://schemas.microsoft.com/office/powerpoint/2010/main" val="189492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F4FE0-C949-2E35-F155-855A4FEA12B5}"/>
              </a:ext>
            </a:extLst>
          </p:cNvPr>
          <p:cNvSpPr>
            <a:spLocks noGrp="1"/>
          </p:cNvSpPr>
          <p:nvPr>
            <p:ph type="title"/>
          </p:nvPr>
        </p:nvSpPr>
        <p:spPr/>
        <p:txBody>
          <a:bodyPr/>
          <a:lstStyle/>
          <a:p>
            <a:r>
              <a:rPr lang="en-AU" dirty="0"/>
              <a:t>Behavioural Segmentation</a:t>
            </a:r>
          </a:p>
        </p:txBody>
      </p:sp>
      <p:sp>
        <p:nvSpPr>
          <p:cNvPr id="3" name="Text Placeholder 2">
            <a:extLst>
              <a:ext uri="{FF2B5EF4-FFF2-40B4-BE49-F238E27FC236}">
                <a16:creationId xmlns:a16="http://schemas.microsoft.com/office/drawing/2014/main" id="{8B69BD01-F9C7-1990-6D7C-CCF205DAC824}"/>
              </a:ext>
            </a:extLst>
          </p:cNvPr>
          <p:cNvSpPr>
            <a:spLocks noGrp="1"/>
          </p:cNvSpPr>
          <p:nvPr>
            <p:ph type="body" idx="1"/>
          </p:nvPr>
        </p:nvSpPr>
        <p:spPr/>
        <p:txBody>
          <a:bodyPr/>
          <a:lstStyle/>
          <a:p>
            <a:pPr marL="114300" indent="0">
              <a:buNone/>
            </a:pPr>
            <a:r>
              <a:rPr lang="en-US" dirty="0"/>
              <a:t>Users won’t be bothered by your product unless it can benefit them in one of three overarching ways:</a:t>
            </a:r>
          </a:p>
          <a:p>
            <a:endParaRPr lang="en-US" dirty="0"/>
          </a:p>
          <a:p>
            <a:r>
              <a:rPr lang="en-US" dirty="0"/>
              <a:t>Solve a problem.</a:t>
            </a:r>
          </a:p>
          <a:p>
            <a:endParaRPr lang="en-US" dirty="0"/>
          </a:p>
          <a:p>
            <a:r>
              <a:rPr lang="en-US" dirty="0"/>
              <a:t>Address a need.</a:t>
            </a:r>
          </a:p>
          <a:p>
            <a:endParaRPr lang="en-US" dirty="0"/>
          </a:p>
          <a:p>
            <a:r>
              <a:rPr lang="en-US" dirty="0"/>
              <a:t>Do something to make them feel better.</a:t>
            </a:r>
          </a:p>
          <a:p>
            <a:endParaRPr lang="en-US" dirty="0"/>
          </a:p>
          <a:p>
            <a:r>
              <a:rPr lang="en-US" dirty="0"/>
              <a:t>"Get closer than ever to your customers. So close that you tell them what they need well before they realize it themselves.“ - Steve Jobs</a:t>
            </a:r>
          </a:p>
          <a:p>
            <a:endParaRPr lang="en-US" dirty="0"/>
          </a:p>
          <a:p>
            <a:endParaRPr lang="en-AU" dirty="0"/>
          </a:p>
        </p:txBody>
      </p:sp>
    </p:spTree>
    <p:extLst>
      <p:ext uri="{BB962C8B-B14F-4D97-AF65-F5344CB8AC3E}">
        <p14:creationId xmlns:p14="http://schemas.microsoft.com/office/powerpoint/2010/main" val="4068876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Behavioural segmentation</a:t>
            </a:r>
            <a:endParaRPr/>
          </a:p>
          <a:p>
            <a:pPr marL="0" lvl="0" indent="0" algn="l" rtl="0">
              <a:spcBef>
                <a:spcPts val="0"/>
              </a:spcBef>
              <a:spcAft>
                <a:spcPts val="0"/>
              </a:spcAft>
              <a:buNone/>
            </a:pPr>
            <a:endParaRPr/>
          </a:p>
        </p:txBody>
      </p:sp>
      <p:sp>
        <p:nvSpPr>
          <p:cNvPr id="100" name="Google Shape;100;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This is where if you ask 50 people, “do you care about your health?”, almost everyone will give you a resounding “yes”. However, if you look at their behavior, you’ll find a huge difference between what they say and what they do. Given a choice between sugary Coco-Cola and a healthy (but bitter) green juice, a vast majority of the supposedly health-conscious people will choose an unhealthy glass of coke.</a:t>
            </a:r>
            <a:endParaRPr sz="1600">
              <a:solidFill>
                <a:srgbClr val="292929"/>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endParaRPr/>
          </a:p>
        </p:txBody>
      </p:sp>
      <p:pic>
        <p:nvPicPr>
          <p:cNvPr id="101" name="Google Shape;101;p20"/>
          <p:cNvPicPr preferRelativeResize="0"/>
          <p:nvPr/>
        </p:nvPicPr>
        <p:blipFill>
          <a:blip r:embed="rId3">
            <a:alphaModFix/>
          </a:blip>
          <a:stretch>
            <a:fillRect/>
          </a:stretch>
        </p:blipFill>
        <p:spPr>
          <a:xfrm>
            <a:off x="5205375" y="3474250"/>
            <a:ext cx="3883624" cy="1631125"/>
          </a:xfrm>
          <a:prstGeom prst="rect">
            <a:avLst/>
          </a:prstGeom>
          <a:noFill/>
          <a:ln>
            <a:noFill/>
          </a:ln>
        </p:spPr>
      </p:pic>
      <p:sp>
        <p:nvSpPr>
          <p:cNvPr id="102" name="Google Shape;102;p20"/>
          <p:cNvSpPr txBox="1"/>
          <p:nvPr/>
        </p:nvSpPr>
        <p:spPr>
          <a:xfrm>
            <a:off x="311700" y="2956325"/>
            <a:ext cx="4777500" cy="203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lt2"/>
                </a:solidFill>
              </a:rPr>
              <a:t>Luckily, in this day and age, it’s far easier to track and analyze consumer behavior using tools like Google Analytics, SEMrush, Ubersuggest, etc. For example, Amazon suggests what else you should buy based on your, or previous customers’, buying behavior (as shown in the image).</a:t>
            </a:r>
            <a:endParaRPr sz="1600">
              <a:solidFill>
                <a:srgbClr val="292929"/>
              </a:solidFill>
              <a:highlight>
                <a:srgbClr val="FFFFFF"/>
              </a:highlight>
              <a:latin typeface="Georgia"/>
              <a:ea typeface="Georgia"/>
              <a:cs typeface="Georgia"/>
              <a:sym typeface="Georgia"/>
            </a:endParaRPr>
          </a:p>
          <a:p>
            <a:pPr marL="0" lvl="0" indent="0" algn="l" rtl="0">
              <a:spcBef>
                <a:spcPts val="0"/>
              </a:spcBef>
              <a:spcAft>
                <a:spcPts val="0"/>
              </a:spcAft>
              <a:buNone/>
            </a:pPr>
            <a:endParaRPr sz="1800">
              <a:solidFill>
                <a:schemeClr val="lt2"/>
              </a:solidFill>
            </a:endParaRPr>
          </a:p>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Sample Target Audience 1</a:t>
            </a:r>
            <a:endParaRPr/>
          </a:p>
        </p:txBody>
      </p:sp>
      <p:sp>
        <p:nvSpPr>
          <p:cNvPr id="108" name="Google Shape;108;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200" dirty="0"/>
              <a:t>Let’s assume that you’re a writer who’s trying to start a coaching business. Your target audience could look something like this:</a:t>
            </a:r>
            <a:endParaRPr sz="1200" dirty="0"/>
          </a:p>
          <a:p>
            <a:pPr marL="457200" marR="0" lvl="0" indent="-304800" algn="l" rtl="0">
              <a:lnSpc>
                <a:spcPct val="115000"/>
              </a:lnSpc>
              <a:spcBef>
                <a:spcPts val="1600"/>
              </a:spcBef>
              <a:spcAft>
                <a:spcPts val="0"/>
              </a:spcAft>
              <a:buSzPts val="1200"/>
              <a:buChar char="●"/>
            </a:pPr>
            <a:r>
              <a:rPr lang="en" sz="1200" b="1" dirty="0"/>
              <a:t>Geographic: </a:t>
            </a:r>
            <a:r>
              <a:rPr lang="en" sz="1200" dirty="0"/>
              <a:t>Lives in the United States, Canada, United Kingdom, New Zealand, Australia.</a:t>
            </a:r>
            <a:endParaRPr sz="1200" dirty="0"/>
          </a:p>
          <a:p>
            <a:pPr marL="457200" marR="0" lvl="0" indent="-304800" algn="l" rtl="0">
              <a:lnSpc>
                <a:spcPct val="115000"/>
              </a:lnSpc>
              <a:spcBef>
                <a:spcPts val="0"/>
              </a:spcBef>
              <a:spcAft>
                <a:spcPts val="0"/>
              </a:spcAft>
              <a:buSzPts val="1200"/>
              <a:buChar char="●"/>
            </a:pPr>
            <a:r>
              <a:rPr lang="en" sz="1200" b="1" dirty="0"/>
              <a:t>Demographic:</a:t>
            </a:r>
            <a:r>
              <a:rPr lang="en" sz="1200" dirty="0"/>
              <a:t> English speakers who are 25 to 45 years old, and have a full-time job with a monthly income of over $6,000.</a:t>
            </a:r>
            <a:endParaRPr sz="1200" dirty="0"/>
          </a:p>
          <a:p>
            <a:pPr marL="457200" lvl="0" indent="-304800" algn="l" rtl="0">
              <a:lnSpc>
                <a:spcPct val="115000"/>
              </a:lnSpc>
              <a:spcBef>
                <a:spcPts val="0"/>
              </a:spcBef>
              <a:spcAft>
                <a:spcPts val="0"/>
              </a:spcAft>
              <a:buSzPts val="1200"/>
              <a:buChar char="●"/>
            </a:pPr>
            <a:r>
              <a:rPr lang="en" sz="1200" b="1" dirty="0"/>
              <a:t>Psychographic: </a:t>
            </a:r>
            <a:r>
              <a:rPr lang="en" sz="1200" dirty="0"/>
              <a:t>Desperately want to be a writer because they want to sound like a figure of authority in their field. They’re ambitious, but also enjoy life and don’t mind losing every once in a while.</a:t>
            </a:r>
            <a:endParaRPr sz="1200" dirty="0"/>
          </a:p>
          <a:p>
            <a:pPr marL="457200" lvl="0" indent="-304800" algn="l" rtl="0">
              <a:lnSpc>
                <a:spcPct val="115000"/>
              </a:lnSpc>
              <a:spcBef>
                <a:spcPts val="0"/>
              </a:spcBef>
              <a:spcAft>
                <a:spcPts val="0"/>
              </a:spcAft>
              <a:buSzPts val="1200"/>
              <a:buChar char="●"/>
            </a:pPr>
            <a:r>
              <a:rPr lang="en" sz="1200" b="1"/>
              <a:t>Behavioral</a:t>
            </a:r>
            <a:r>
              <a:rPr lang="en" sz="1200"/>
              <a:t>: Spends a lot of time reading books and blogs, listening to podcasts or audiobooks, and watching self-help/business videos on YouTube. </a:t>
            </a:r>
            <a:r>
              <a:rPr lang="en" sz="1200" dirty="0"/>
              <a:t>They’re also actively looking for online courses to become better at writing.</a:t>
            </a:r>
            <a:endParaRPr sz="1200" dirty="0"/>
          </a:p>
          <a:p>
            <a:pPr marL="0" lvl="0" indent="0" algn="l" rtl="0">
              <a:lnSpc>
                <a:spcPct val="100000"/>
              </a:lnSpc>
              <a:spcBef>
                <a:spcPts val="3200"/>
              </a:spcBef>
              <a:spcAft>
                <a:spcPts val="0"/>
              </a:spcAft>
              <a:buNone/>
            </a:pPr>
            <a:r>
              <a:rPr lang="en" sz="1400" b="1" dirty="0"/>
              <a:t>Hence, the target audience is 25 to 45 years old English speakers in developed English-speaking countries, who want to be writers to establish themselves as authority figures.</a:t>
            </a:r>
            <a:endParaRPr sz="1400" b="1" dirty="0"/>
          </a:p>
          <a:p>
            <a:pPr marL="0" lvl="0" indent="0" algn="l" rtl="0">
              <a:spcBef>
                <a:spcPts val="0"/>
              </a:spcBef>
              <a:spcAft>
                <a:spcPts val="0"/>
              </a:spcAft>
              <a:buNone/>
            </a:pPr>
            <a:endParaRPr sz="500" dirty="0">
              <a:solidFill>
                <a:srgbClr val="000000"/>
              </a:solidFill>
            </a:endParaRPr>
          </a:p>
          <a:p>
            <a:pPr marL="0" lvl="0" indent="0" algn="l" rtl="0">
              <a:spcBef>
                <a:spcPts val="0"/>
              </a:spcBef>
              <a:spcAft>
                <a:spcPts val="0"/>
              </a:spcAft>
              <a:buNone/>
            </a:pPr>
            <a:endParaRPr sz="1200" dirty="0"/>
          </a:p>
          <a:p>
            <a:pPr marL="0" lvl="0" indent="0" algn="l" rtl="0">
              <a:spcBef>
                <a:spcPts val="1600"/>
              </a:spcBef>
              <a:spcAft>
                <a:spcPts val="0"/>
              </a:spcAft>
              <a:buNone/>
            </a:pPr>
            <a:endParaRPr sz="1200" dirty="0"/>
          </a:p>
          <a:p>
            <a:pPr marL="0" lvl="0" indent="0" algn="l" rtl="0">
              <a:spcBef>
                <a:spcPts val="1600"/>
              </a:spcBef>
              <a:spcAft>
                <a:spcPts val="1600"/>
              </a:spcAft>
              <a:buNone/>
            </a:pPr>
            <a:endParaRPr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Know your audience</a:t>
            </a:r>
            <a:endParaRPr/>
          </a:p>
        </p:txBody>
      </p:sp>
      <p:sp>
        <p:nvSpPr>
          <p:cNvPr id="114" name="Google Shape;114;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Look at statistics</a:t>
            </a:r>
            <a:endParaRPr/>
          </a:p>
          <a:p>
            <a:pPr marL="0" lvl="0" indent="0" algn="l" rtl="0">
              <a:spcBef>
                <a:spcPts val="1600"/>
              </a:spcBef>
              <a:spcAft>
                <a:spcPts val="0"/>
              </a:spcAft>
              <a:buNone/>
            </a:pPr>
            <a:r>
              <a:rPr lang="en"/>
              <a:t>Interviews</a:t>
            </a:r>
            <a:endParaRPr/>
          </a:p>
          <a:p>
            <a:pPr marL="0" lvl="0" indent="0" algn="l" rtl="0">
              <a:spcBef>
                <a:spcPts val="1600"/>
              </a:spcBef>
              <a:spcAft>
                <a:spcPts val="0"/>
              </a:spcAft>
              <a:buNone/>
            </a:pPr>
            <a:r>
              <a:rPr lang="en"/>
              <a:t>Research</a:t>
            </a:r>
            <a:endParaRPr/>
          </a:p>
          <a:p>
            <a:pPr marL="0" lvl="0" indent="0" algn="l" rtl="0">
              <a:spcBef>
                <a:spcPts val="1600"/>
              </a:spcBef>
              <a:spcAft>
                <a:spcPts val="0"/>
              </a:spcAft>
              <a:buNone/>
            </a:pPr>
            <a:r>
              <a:rPr lang="en"/>
              <a:t>Create a persona</a:t>
            </a:r>
            <a:endParaRPr/>
          </a:p>
          <a:p>
            <a:pPr marL="0" lvl="0" indent="0" algn="l" rtl="0">
              <a:spcBef>
                <a:spcPts val="1600"/>
              </a:spcBef>
              <a:spcAft>
                <a:spcPts val="0"/>
              </a:spcAft>
              <a:buNone/>
            </a:pPr>
            <a:r>
              <a:rPr lang="en"/>
              <a:t>Know the law</a:t>
            </a:r>
            <a:endParaRPr/>
          </a:p>
          <a:p>
            <a:pPr marL="0" lvl="0" indent="0" algn="l" rtl="0">
              <a:spcBef>
                <a:spcPts val="1600"/>
              </a:spcBef>
              <a:spcAft>
                <a:spcPts val="160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Stats	</a:t>
            </a:r>
            <a:endParaRPr/>
          </a:p>
        </p:txBody>
      </p:sp>
      <p:sp>
        <p:nvSpPr>
          <p:cNvPr id="120" name="Google Shape;120;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Australian Government uses Aged Care Planning Regions (ACPRs) to plan the distribution and types of aged care services to be made available across Australia.</a:t>
            </a:r>
            <a:endParaRPr dirty="0"/>
          </a:p>
          <a:p>
            <a:pPr marL="0" lvl="0" indent="0" algn="l" rtl="0">
              <a:spcBef>
                <a:spcPts val="1600"/>
              </a:spcBef>
              <a:spcAft>
                <a:spcPts val="0"/>
              </a:spcAft>
              <a:buNone/>
            </a:pPr>
            <a:r>
              <a:rPr lang="en" dirty="0"/>
              <a:t>On 30 June 2021, approximately 371,000 people were using residential aged care, home care or transition care in Australia. This comprises 191,000 people using permanent or respite residential aged care, 176,000 using home care and 3,700 using transition care. In addition, during 2020–21 over 825,000 people were assisted under the Commonwealth Home Support Programme (home support). </a:t>
            </a:r>
            <a:endParaRPr dirty="0"/>
          </a:p>
          <a:p>
            <a:pPr marL="0" lvl="0" indent="0" algn="l" rtl="0">
              <a:spcBef>
                <a:spcPts val="1600"/>
              </a:spcBef>
              <a:spcAft>
                <a:spcPts val="0"/>
              </a:spcAft>
              <a:buNone/>
            </a:pPr>
            <a:r>
              <a:rPr lang="en" sz="1600" b="1" dirty="0"/>
              <a:t>30 June 2021</a:t>
            </a:r>
            <a:endParaRPr dirty="0"/>
          </a:p>
          <a:p>
            <a:pPr marL="0" lvl="0" indent="0" algn="l" rtl="0">
              <a:spcBef>
                <a:spcPts val="1600"/>
              </a:spcBef>
              <a:spcAft>
                <a:spcPts val="1600"/>
              </a:spcAft>
              <a:buNone/>
            </a:pPr>
            <a:r>
              <a:rPr lang="en" dirty="0"/>
              <a:t>What can stats tell you about your project/audience</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Stats Australia	</a:t>
            </a:r>
            <a:endParaRPr/>
          </a:p>
        </p:txBody>
      </p:sp>
      <p:pic>
        <p:nvPicPr>
          <p:cNvPr id="126" name="Google Shape;126;p24"/>
          <p:cNvPicPr preferRelativeResize="0"/>
          <p:nvPr/>
        </p:nvPicPr>
        <p:blipFill>
          <a:blip r:embed="rId3">
            <a:alphaModFix/>
          </a:blip>
          <a:stretch>
            <a:fillRect/>
          </a:stretch>
        </p:blipFill>
        <p:spPr>
          <a:xfrm>
            <a:off x="871538" y="1367525"/>
            <a:ext cx="7400925" cy="3057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Stats</a:t>
            </a:r>
            <a:endParaRPr/>
          </a:p>
        </p:txBody>
      </p:sp>
      <p:sp>
        <p:nvSpPr>
          <p:cNvPr id="132" name="Google Shape;132;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Look at as many stats as you can to inform your decisions… This will help you formulate what your target audience looks like. </a:t>
            </a:r>
            <a:endParaRPr/>
          </a:p>
          <a:p>
            <a:pPr marL="0" lvl="0" indent="0" algn="l" rtl="0">
              <a:spcBef>
                <a:spcPts val="1600"/>
              </a:spcBef>
              <a:spcAft>
                <a:spcPts val="0"/>
              </a:spcAft>
              <a:buNone/>
            </a:pPr>
            <a:r>
              <a:rPr lang="en"/>
              <a:t>Eg: if 20% of people in NSW want animals but don’t all have the space, or time, would they be a realistic target for a large dog?</a:t>
            </a:r>
            <a:endParaRPr/>
          </a:p>
          <a:p>
            <a:pPr marL="0" lvl="0" indent="0" algn="l" rtl="0">
              <a:spcBef>
                <a:spcPts val="1600"/>
              </a:spcBef>
              <a:spcAft>
                <a:spcPts val="0"/>
              </a:spcAft>
              <a:buNone/>
            </a:pPr>
            <a:r>
              <a:rPr lang="en"/>
              <a:t>If covid resulted in a lot of homes already taking animals, is there still room for more adoption? </a:t>
            </a:r>
            <a:endParaRPr/>
          </a:p>
          <a:p>
            <a:pPr marL="0" lvl="0" indent="0" algn="l" rtl="0">
              <a:spcBef>
                <a:spcPts val="1600"/>
              </a:spcBef>
              <a:spcAft>
                <a:spcPts val="0"/>
              </a:spcAft>
              <a:buNone/>
            </a:pPr>
            <a:r>
              <a:rPr lang="en"/>
              <a:t>Remember mortality of animals is also a factor.</a:t>
            </a:r>
            <a:endParaRPr/>
          </a:p>
          <a:p>
            <a:pPr marL="0" lvl="0" indent="0" algn="l" rtl="0">
              <a:spcBef>
                <a:spcPts val="1600"/>
              </a:spcBef>
              <a:spcAft>
                <a:spcPts val="1600"/>
              </a:spcAft>
              <a:buNone/>
            </a:pPr>
            <a:r>
              <a:rPr lang="en"/>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Where can you get Statistics </a:t>
            </a:r>
            <a:endParaRPr/>
          </a:p>
        </p:txBody>
      </p:sp>
      <p:sp>
        <p:nvSpPr>
          <p:cNvPr id="138" name="Google Shape;138;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b="1"/>
          </a:p>
          <a:p>
            <a:pPr marL="0" lvl="0" indent="0" algn="l" rtl="0">
              <a:spcBef>
                <a:spcPts val="1600"/>
              </a:spcBef>
              <a:spcAft>
                <a:spcPts val="0"/>
              </a:spcAft>
              <a:buNone/>
            </a:pPr>
            <a:r>
              <a:rPr lang="en"/>
              <a:t>Australian Bureau of Statistics</a:t>
            </a:r>
            <a:endParaRPr/>
          </a:p>
          <a:p>
            <a:pPr marL="0" lvl="0" indent="0" algn="l" rtl="0">
              <a:spcBef>
                <a:spcPts val="1600"/>
              </a:spcBef>
              <a:spcAft>
                <a:spcPts val="0"/>
              </a:spcAft>
              <a:buNone/>
            </a:pPr>
            <a:r>
              <a:rPr lang="en">
                <a:uFill>
                  <a:noFill/>
                </a:uFill>
                <a:hlinkClick r:id="rId3"/>
              </a:rPr>
              <a:t>https://www.olg.nsw.gov.au/public/dogs-cats/responsible-pet-ownership/pound-and-dog-attack-statistics/</a:t>
            </a:r>
            <a:r>
              <a:rPr lang="en"/>
              <a:t> </a:t>
            </a:r>
            <a:endParaRPr/>
          </a:p>
          <a:p>
            <a:pPr marL="0" lvl="0" indent="0" algn="l" rtl="0">
              <a:spcBef>
                <a:spcPts val="1600"/>
              </a:spcBef>
              <a:spcAft>
                <a:spcPts val="0"/>
              </a:spcAft>
              <a:buNone/>
            </a:pPr>
            <a:r>
              <a:rPr lang="en">
                <a:uFill>
                  <a:noFill/>
                </a:uFill>
                <a:hlinkClick r:id="rId4"/>
              </a:rPr>
              <a:t>https://www.rspca.org.au/what-we-do/our-role-caring-animals/annual-statistics</a:t>
            </a:r>
            <a:endParaRPr/>
          </a:p>
          <a:p>
            <a:pPr marL="0" lvl="0" indent="0" algn="l" rtl="0">
              <a:spcBef>
                <a:spcPts val="1600"/>
              </a:spcBef>
              <a:spcAft>
                <a:spcPts val="0"/>
              </a:spcAft>
              <a:buNone/>
            </a:pPr>
            <a:r>
              <a:rPr lang="en"/>
              <a:t>Google Analytics (from sites related to this)</a:t>
            </a:r>
            <a:endParaRPr/>
          </a:p>
          <a:p>
            <a:pPr marL="0" lvl="0" indent="0" algn="l" rtl="0">
              <a:spcBef>
                <a:spcPts val="1600"/>
              </a:spcBef>
              <a:spcAft>
                <a:spcPts val="160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Talk to People - Interviews</a:t>
            </a:r>
            <a:endParaRPr/>
          </a:p>
        </p:txBody>
      </p:sp>
      <p:sp>
        <p:nvSpPr>
          <p:cNvPr id="144" name="Google Shape;144;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ask people?</a:t>
            </a:r>
            <a:endParaRPr/>
          </a:p>
          <a:p>
            <a:pPr marL="0" lvl="0" indent="0" algn="l" rtl="0">
              <a:spcBef>
                <a:spcPts val="1600"/>
              </a:spcBef>
              <a:spcAft>
                <a:spcPts val="0"/>
              </a:spcAft>
              <a:buNone/>
            </a:pPr>
            <a:r>
              <a:rPr lang="en"/>
              <a:t>Shifting Attitudes</a:t>
            </a:r>
            <a:endParaRPr/>
          </a:p>
          <a:p>
            <a:pPr marL="0" lvl="0" indent="0" algn="l" rtl="0">
              <a:spcBef>
                <a:spcPts val="1600"/>
              </a:spcBef>
              <a:spcAft>
                <a:spcPts val="0"/>
              </a:spcAft>
              <a:buNone/>
            </a:pPr>
            <a:r>
              <a:rPr lang="en"/>
              <a:t>Different views to your own</a:t>
            </a:r>
            <a:endParaRPr/>
          </a:p>
          <a:p>
            <a:pPr marL="0" lvl="0" indent="0" algn="l" rtl="0">
              <a:spcBef>
                <a:spcPts val="1600"/>
              </a:spcBef>
              <a:spcAft>
                <a:spcPts val="0"/>
              </a:spcAft>
              <a:buNone/>
            </a:pPr>
            <a:r>
              <a:rPr lang="en"/>
              <a:t>Empathy</a:t>
            </a:r>
            <a:endParaRPr/>
          </a:p>
          <a:p>
            <a:pPr marL="0" lvl="0" indent="0" algn="l" rtl="0">
              <a:spcBef>
                <a:spcPts val="1600"/>
              </a:spcBef>
              <a:spcAft>
                <a:spcPts val="160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a:t>
            </a:r>
            <a:endParaRPr/>
          </a:p>
        </p:txBody>
      </p:sp>
      <p:sp>
        <p:nvSpPr>
          <p:cNvPr id="150" name="Google Shape;150;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Aged care in Eastern Suburbs: </a:t>
            </a:r>
            <a:r>
              <a:rPr lang="en" u="sng">
                <a:solidFill>
                  <a:schemeClr val="hlink"/>
                </a:solidFill>
                <a:hlinkClick r:id="rId3"/>
              </a:rPr>
              <a:t>link</a:t>
            </a:r>
            <a:endParaRPr/>
          </a:p>
          <a:p>
            <a:pPr marL="0" lvl="0" indent="0" algn="l" rtl="0">
              <a:spcBef>
                <a:spcPts val="1600"/>
              </a:spcBef>
              <a:spcAft>
                <a:spcPts val="0"/>
              </a:spcAft>
              <a:buNone/>
            </a:pPr>
            <a:r>
              <a:rPr lang="en"/>
              <a:t>Aged care admission fact sheet: </a:t>
            </a:r>
            <a:r>
              <a:rPr lang="en" u="sng">
                <a:solidFill>
                  <a:schemeClr val="hlink"/>
                </a:solidFill>
                <a:hlinkClick r:id="rId4"/>
              </a:rPr>
              <a:t>link</a:t>
            </a:r>
            <a:endParaRPr/>
          </a:p>
          <a:p>
            <a:pPr marL="0" lvl="0" indent="0" algn="l" rtl="0">
              <a:spcBef>
                <a:spcPts val="1600"/>
              </a:spcBef>
              <a:spcAft>
                <a:spcPts val="1600"/>
              </a:spcAft>
              <a:buNone/>
            </a:pPr>
            <a:r>
              <a:rPr lang="en"/>
              <a:t>People using aged care: </a:t>
            </a:r>
            <a:r>
              <a:rPr lang="en" u="sng">
                <a:solidFill>
                  <a:schemeClr val="hlink"/>
                </a:solidFill>
                <a:hlinkClick r:id="rId5"/>
              </a:rPr>
              <a:t>link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 of questions you would ask in an Interview of residents to discover needs</a:t>
            </a:r>
            <a:endParaRPr/>
          </a:p>
        </p:txBody>
      </p:sp>
      <p:sp>
        <p:nvSpPr>
          <p:cNvPr id="156" name="Google Shape;156;p29"/>
          <p:cNvSpPr txBox="1">
            <a:spLocks noGrp="1"/>
          </p:cNvSpPr>
          <p:nvPr>
            <p:ph type="body" idx="1"/>
          </p:nvPr>
        </p:nvSpPr>
        <p:spPr>
          <a:xfrm>
            <a:off x="311700" y="1396300"/>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
              <a:t>How has your experience been with the aged care technology that is available to you in this facility?</a:t>
            </a:r>
            <a:endParaRPr/>
          </a:p>
          <a:p>
            <a:pPr marL="457200" lvl="0" indent="-342900" algn="l" rtl="0">
              <a:spcBef>
                <a:spcPts val="0"/>
              </a:spcBef>
              <a:spcAft>
                <a:spcPts val="0"/>
              </a:spcAft>
              <a:buSzPts val="1800"/>
              <a:buAutoNum type="arabicPeriod"/>
            </a:pPr>
            <a:r>
              <a:rPr lang="en"/>
              <a:t>What do you find to be the most helpful feature of the technology that you currently use, and why?</a:t>
            </a:r>
            <a:endParaRPr/>
          </a:p>
          <a:p>
            <a:pPr marL="457200" lvl="0" indent="-342900" algn="l" rtl="0">
              <a:spcBef>
                <a:spcPts val="0"/>
              </a:spcBef>
              <a:spcAft>
                <a:spcPts val="0"/>
              </a:spcAft>
              <a:buSzPts val="1800"/>
              <a:buAutoNum type="arabicPeriod"/>
            </a:pPr>
            <a:r>
              <a:rPr lang="en"/>
              <a:t>Can you describe any difficulties or frustrations you have experienced while using the technology in the aged care facility?</a:t>
            </a:r>
            <a:endParaRPr/>
          </a:p>
          <a:p>
            <a:pPr marL="457200" lvl="0" indent="-342900" algn="l" rtl="0">
              <a:spcBef>
                <a:spcPts val="0"/>
              </a:spcBef>
              <a:spcAft>
                <a:spcPts val="0"/>
              </a:spcAft>
              <a:buSzPts val="1800"/>
              <a:buAutoNum type="arabicPeriod"/>
            </a:pPr>
            <a:r>
              <a:rPr lang="en"/>
              <a:t>How often do you use the technology provided to you, and for what specific tasks?</a:t>
            </a:r>
            <a:endParaRPr/>
          </a:p>
          <a:p>
            <a:pPr marL="457200" lvl="0" indent="-342900" algn="l" rtl="0">
              <a:spcBef>
                <a:spcPts val="0"/>
              </a:spcBef>
              <a:spcAft>
                <a:spcPts val="0"/>
              </a:spcAft>
              <a:buSzPts val="1800"/>
              <a:buAutoNum type="arabicPeriod"/>
            </a:pPr>
            <a:r>
              <a:rPr lang="en"/>
              <a:t>Is there any additional technology or features that you would like to see incorporated into the aged care technology available to you?</a:t>
            </a:r>
            <a:endParaRPr sz="1200">
              <a:solidFill>
                <a:srgbClr val="374151"/>
              </a:solidFill>
              <a:highlight>
                <a:srgbClr val="F7F7F8"/>
              </a:highlight>
              <a:latin typeface="Roboto"/>
              <a:ea typeface="Roboto"/>
              <a:cs typeface="Roboto"/>
              <a:sym typeface="Roboto"/>
            </a:endParaRPr>
          </a:p>
          <a:p>
            <a:pPr marL="0" lvl="0" indent="0" algn="l" rtl="0">
              <a:spcBef>
                <a:spcPts val="0"/>
              </a:spcBef>
              <a:spcAft>
                <a:spcPts val="160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Qualitative question examples - please customise to your product</a:t>
            </a:r>
            <a:endParaRPr/>
          </a:p>
        </p:txBody>
      </p:sp>
      <p:sp>
        <p:nvSpPr>
          <p:cNvPr id="162" name="Google Shape;162;p30"/>
          <p:cNvSpPr txBox="1">
            <a:spLocks noGrp="1"/>
          </p:cNvSpPr>
          <p:nvPr>
            <p:ph type="body" idx="1"/>
          </p:nvPr>
        </p:nvSpPr>
        <p:spPr>
          <a:xfrm>
            <a:off x="311700" y="1396300"/>
            <a:ext cx="8520600" cy="3416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Roboto"/>
              <a:buAutoNum type="arabicPeriod"/>
            </a:pPr>
            <a:r>
              <a:rPr lang="en" sz="1400">
                <a:solidFill>
                  <a:schemeClr val="dk1"/>
                </a:solidFill>
                <a:latin typeface="Roboto"/>
                <a:ea typeface="Roboto"/>
                <a:cs typeface="Roboto"/>
                <a:sym typeface="Roboto"/>
              </a:rPr>
              <a:t>Is the sign-up/sign-in process easy to find on the wireframe? (Provide clear and neat images)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AutoNum type="arabicPeriod"/>
            </a:pPr>
            <a:r>
              <a:rPr lang="en" sz="1400">
                <a:solidFill>
                  <a:schemeClr val="dk1"/>
                </a:solidFill>
                <a:latin typeface="Roboto"/>
                <a:ea typeface="Roboto"/>
                <a:cs typeface="Roboto"/>
                <a:sym typeface="Roboto"/>
              </a:rPr>
              <a:t>Are the form fields clearly labeled and easy to understand?</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AutoNum type="arabicPeriod"/>
            </a:pPr>
            <a:r>
              <a:rPr lang="en" sz="1400">
                <a:solidFill>
                  <a:schemeClr val="dk1"/>
                </a:solidFill>
                <a:latin typeface="Roboto"/>
                <a:ea typeface="Roboto"/>
                <a:cs typeface="Roboto"/>
                <a:sym typeface="Roboto"/>
              </a:rPr>
              <a:t>Is the form layout visually appealing and user-friendly?</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AutoNum type="arabicPeriod"/>
            </a:pPr>
            <a:r>
              <a:rPr lang="en" sz="1400">
                <a:solidFill>
                  <a:schemeClr val="dk1"/>
                </a:solidFill>
                <a:latin typeface="Roboto"/>
                <a:ea typeface="Roboto"/>
                <a:cs typeface="Roboto"/>
                <a:sym typeface="Roboto"/>
              </a:rPr>
              <a:t>Is the sign-up/sign-in process straightforward and intuitive?</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AutoNum type="arabicPeriod"/>
            </a:pPr>
            <a:r>
              <a:rPr lang="en" sz="1400">
                <a:solidFill>
                  <a:schemeClr val="dk1"/>
                </a:solidFill>
                <a:latin typeface="Roboto"/>
                <a:ea typeface="Roboto"/>
                <a:cs typeface="Roboto"/>
                <a:sym typeface="Roboto"/>
              </a:rPr>
              <a:t>Are there any unnecessary form fields or steps in the process?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AutoNum type="arabicPeriod"/>
            </a:pPr>
            <a:r>
              <a:rPr lang="en" sz="1400">
                <a:solidFill>
                  <a:schemeClr val="dk1"/>
                </a:solidFill>
                <a:latin typeface="Roboto"/>
                <a:ea typeface="Roboto"/>
                <a:cs typeface="Roboto"/>
                <a:sym typeface="Roboto"/>
              </a:rPr>
              <a:t>Are there any error messages or alerts for incomplete or incorrect input?</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AutoNum type="arabicPeriod"/>
            </a:pPr>
            <a:r>
              <a:rPr lang="en" sz="1400">
                <a:solidFill>
                  <a:schemeClr val="dk1"/>
                </a:solidFill>
                <a:latin typeface="Roboto"/>
                <a:ea typeface="Roboto"/>
                <a:cs typeface="Roboto"/>
                <a:sym typeface="Roboto"/>
              </a:rPr>
              <a:t>Is there an option for users to recover their account if they forget their login credentials?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AutoNum type="arabicPeriod"/>
            </a:pPr>
            <a:r>
              <a:rPr lang="en" sz="1400">
                <a:solidFill>
                  <a:schemeClr val="dk1"/>
                </a:solidFill>
                <a:latin typeface="Roboto"/>
                <a:ea typeface="Roboto"/>
                <a:cs typeface="Roboto"/>
                <a:sym typeface="Roboto"/>
              </a:rPr>
              <a:t>Is there an option for users to stay logged in, or for the system to remember their login details?</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AutoNum type="arabicPeriod"/>
            </a:pPr>
            <a:r>
              <a:rPr lang="en" sz="1400">
                <a:solidFill>
                  <a:schemeClr val="dk1"/>
                </a:solidFill>
                <a:latin typeface="Roboto"/>
                <a:ea typeface="Roboto"/>
                <a:cs typeface="Roboto"/>
                <a:sym typeface="Roboto"/>
              </a:rPr>
              <a:t>Is there any additional information provided to help users understand why they need to sign up/sign in?</a:t>
            </a:r>
            <a:endParaRPr sz="140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AutoNum type="arabicPeriod"/>
            </a:pPr>
            <a:r>
              <a:rPr lang="en" sz="1400">
                <a:solidFill>
                  <a:schemeClr val="dk1"/>
                </a:solidFill>
                <a:latin typeface="Roboto"/>
                <a:ea typeface="Roboto"/>
                <a:cs typeface="Roboto"/>
                <a:sym typeface="Roboto"/>
              </a:rPr>
              <a:t>Is there a clear call to action, such as a button or link, to initiate the sign-up/sign-in process?</a:t>
            </a:r>
            <a:endParaRPr sz="1400">
              <a:solidFill>
                <a:schemeClr val="dk1"/>
              </a:solidFill>
              <a:latin typeface="Roboto"/>
              <a:ea typeface="Roboto"/>
              <a:cs typeface="Roboto"/>
              <a:sym typeface="Roboto"/>
            </a:endParaRPr>
          </a:p>
          <a:p>
            <a:pPr marL="0" lvl="0" indent="0" algn="l" rtl="0">
              <a:spcBef>
                <a:spcPts val="0"/>
              </a:spcBef>
              <a:spcAft>
                <a:spcPts val="1600"/>
              </a:spcAft>
              <a:buNone/>
            </a:pPr>
            <a:endParaRP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TotalTime>
  <Words>2007</Words>
  <Application>Microsoft Office PowerPoint</Application>
  <PresentationFormat>On-screen Show (16:9)</PresentationFormat>
  <Paragraphs>137</Paragraphs>
  <Slides>24</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Georgia</vt:lpstr>
      <vt:lpstr>Roboto</vt:lpstr>
      <vt:lpstr>Simple Dark</vt:lpstr>
      <vt:lpstr> UX Target Audience</vt:lpstr>
      <vt:lpstr>What is a target audience? </vt:lpstr>
      <vt:lpstr>Who is your target audience? </vt:lpstr>
      <vt:lpstr>Start with Segmentation</vt:lpstr>
      <vt:lpstr>Geographical Segmentation</vt:lpstr>
      <vt:lpstr>Demographics</vt:lpstr>
      <vt:lpstr>Example of Demographic Segmentation</vt:lpstr>
      <vt:lpstr>Example of Demographic Segmentation</vt:lpstr>
      <vt:lpstr>Psychographic segmentation </vt:lpstr>
      <vt:lpstr>Examples of companies using psychographic segmentation</vt:lpstr>
      <vt:lpstr>Examples of companies using psychographic segmentation</vt:lpstr>
      <vt:lpstr>Examples of companies using psychographic segmentation</vt:lpstr>
      <vt:lpstr>Behavioural Segmentation</vt:lpstr>
      <vt:lpstr>Behavioural segmentation </vt:lpstr>
      <vt:lpstr>Sample Target Audience 1</vt:lpstr>
      <vt:lpstr>Know your audience</vt:lpstr>
      <vt:lpstr>Stats </vt:lpstr>
      <vt:lpstr>Stats Australia </vt:lpstr>
      <vt:lpstr>Stats</vt:lpstr>
      <vt:lpstr>Where can you get Statistics </vt:lpstr>
      <vt:lpstr>Talk to People - Interviews</vt:lpstr>
      <vt:lpstr>Research</vt:lpstr>
      <vt:lpstr>Example of questions you would ask in an Interview of residents to discover needs</vt:lpstr>
      <vt:lpstr>Qualitative question examples - please customise to your product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UX Target Audience</dc:title>
  <cp:lastModifiedBy>Christopher Dsouza</cp:lastModifiedBy>
  <cp:revision>5</cp:revision>
  <dcterms:modified xsi:type="dcterms:W3CDTF">2024-02-07T21:28:58Z</dcterms:modified>
</cp:coreProperties>
</file>