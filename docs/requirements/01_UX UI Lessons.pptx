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Lst>
  <p:sldSz cx="9144000" cy="5143500" type="screen16x9"/>
  <p:notesSz cx="6858000" cy="9144000"/>
  <p:embeddedFontLst>
    <p:embeddedFont>
      <p:font typeface="Century Gothic" panose="020B0502020202020204"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3" d="100"/>
          <a:sy n="113" d="100"/>
        </p:scale>
        <p:origin x="165" y="5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06f652c30f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06f652c30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bb3019645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bb301964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059135b3d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059135b3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06f652c30f_1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06f652c30f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06f652c30f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06f652c30f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059135b3dc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059135b3dc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7d0f2fb879_1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7d0f2fb879_1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06f652c30f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06f652c30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06f652c30f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06f652c30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06f652c30f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106f652c30f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06f652c30f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06f652c30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7d0f2fb879_1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7d0f2fb879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7d82090a2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7d82090a2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7d0f2fb879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7d0f2fb87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7d0f2fb879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7d0f2fb879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7d0f2fb879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7d0f2fb879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06ed439db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06ed439d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058cd1bf0c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058cd1bf0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7d1093147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7d1093147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7d10931473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7d10931473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7d10931473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7d10931473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7d10931473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7d1093147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7d10931473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7d10931473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7d10931473_1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7d10931473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7d10931473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7d10931473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6ffc49ec4f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6ffc49ec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1600"/>
              </a:spcBef>
              <a:spcAft>
                <a:spcPts val="0"/>
              </a:spcAft>
              <a:buClr>
                <a:schemeClr val="dk1"/>
              </a:buClr>
              <a:buSzPts val="1400"/>
              <a:buChar char="○"/>
              <a:defRPr>
                <a:solidFill>
                  <a:schemeClr val="dk1"/>
                </a:solidFill>
              </a:defRPr>
            </a:lvl2pPr>
            <a:lvl3pPr marL="1371600" lvl="2" indent="-317500">
              <a:spcBef>
                <a:spcPts val="1600"/>
              </a:spcBef>
              <a:spcAft>
                <a:spcPts val="0"/>
              </a:spcAft>
              <a:buClr>
                <a:schemeClr val="dk1"/>
              </a:buClr>
              <a:buSzPts val="1400"/>
              <a:buChar char="■"/>
              <a:defRPr>
                <a:solidFill>
                  <a:schemeClr val="dk1"/>
                </a:solidFill>
              </a:defRPr>
            </a:lvl3pPr>
            <a:lvl4pPr marL="1828800" lvl="3" indent="-317500">
              <a:spcBef>
                <a:spcPts val="1600"/>
              </a:spcBef>
              <a:spcAft>
                <a:spcPts val="0"/>
              </a:spcAft>
              <a:buClr>
                <a:schemeClr val="dk1"/>
              </a:buClr>
              <a:buSzPts val="1400"/>
              <a:buChar char="●"/>
              <a:defRPr>
                <a:solidFill>
                  <a:schemeClr val="dk1"/>
                </a:solidFill>
              </a:defRPr>
            </a:lvl4pPr>
            <a:lvl5pPr marL="2286000" lvl="4" indent="-317500">
              <a:spcBef>
                <a:spcPts val="1600"/>
              </a:spcBef>
              <a:spcAft>
                <a:spcPts val="0"/>
              </a:spcAft>
              <a:buClr>
                <a:schemeClr val="dk1"/>
              </a:buClr>
              <a:buSzPts val="1400"/>
              <a:buChar char="○"/>
              <a:defRPr>
                <a:solidFill>
                  <a:schemeClr val="dk1"/>
                </a:solidFill>
              </a:defRPr>
            </a:lvl5pPr>
            <a:lvl6pPr marL="2743200" lvl="5" indent="-317500">
              <a:spcBef>
                <a:spcPts val="1600"/>
              </a:spcBef>
              <a:spcAft>
                <a:spcPts val="0"/>
              </a:spcAft>
              <a:buClr>
                <a:schemeClr val="dk1"/>
              </a:buClr>
              <a:buSzPts val="1400"/>
              <a:buChar char="■"/>
              <a:defRPr>
                <a:solidFill>
                  <a:schemeClr val="dk1"/>
                </a:solidFill>
              </a:defRPr>
            </a:lvl6pPr>
            <a:lvl7pPr marL="3200400" lvl="6" indent="-317500">
              <a:spcBef>
                <a:spcPts val="1600"/>
              </a:spcBef>
              <a:spcAft>
                <a:spcPts val="0"/>
              </a:spcAft>
              <a:buClr>
                <a:schemeClr val="dk1"/>
              </a:buClr>
              <a:buSzPts val="1400"/>
              <a:buChar char="●"/>
              <a:defRPr>
                <a:solidFill>
                  <a:schemeClr val="dk1"/>
                </a:solidFill>
              </a:defRPr>
            </a:lvl7pPr>
            <a:lvl8pPr marL="3657600" lvl="7" indent="-317500">
              <a:spcBef>
                <a:spcPts val="1600"/>
              </a:spcBef>
              <a:spcAft>
                <a:spcPts val="0"/>
              </a:spcAft>
              <a:buClr>
                <a:schemeClr val="dk1"/>
              </a:buClr>
              <a:buSzPts val="1400"/>
              <a:buChar char="○"/>
              <a:defRPr>
                <a:solidFill>
                  <a:schemeClr val="dk1"/>
                </a:solidFill>
              </a:defRPr>
            </a:lvl8pPr>
            <a:lvl9pPr marL="4114800" lvl="8" indent="-317500">
              <a:spcBef>
                <a:spcPts val="1600"/>
              </a:spcBef>
              <a:spcAft>
                <a:spcPts val="160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1600"/>
              </a:spcBef>
              <a:spcAft>
                <a:spcPts val="0"/>
              </a:spcAft>
              <a:buClr>
                <a:schemeClr val="lt2"/>
              </a:buClr>
              <a:buSzPts val="1400"/>
              <a:buChar char="○"/>
              <a:defRPr>
                <a:solidFill>
                  <a:schemeClr val="lt2"/>
                </a:solidFill>
              </a:defRPr>
            </a:lvl2pPr>
            <a:lvl3pPr marL="1371600" lvl="2" indent="-317500">
              <a:lnSpc>
                <a:spcPct val="115000"/>
              </a:lnSpc>
              <a:spcBef>
                <a:spcPts val="1600"/>
              </a:spcBef>
              <a:spcAft>
                <a:spcPts val="0"/>
              </a:spcAft>
              <a:buClr>
                <a:schemeClr val="lt2"/>
              </a:buClr>
              <a:buSzPts val="1400"/>
              <a:buChar char="■"/>
              <a:defRPr>
                <a:solidFill>
                  <a:schemeClr val="lt2"/>
                </a:solidFill>
              </a:defRPr>
            </a:lvl3pPr>
            <a:lvl4pPr marL="1828800" lvl="3" indent="-317500">
              <a:lnSpc>
                <a:spcPct val="115000"/>
              </a:lnSpc>
              <a:spcBef>
                <a:spcPts val="1600"/>
              </a:spcBef>
              <a:spcAft>
                <a:spcPts val="0"/>
              </a:spcAft>
              <a:buClr>
                <a:schemeClr val="lt2"/>
              </a:buClr>
              <a:buSzPts val="1400"/>
              <a:buChar char="●"/>
              <a:defRPr>
                <a:solidFill>
                  <a:schemeClr val="lt2"/>
                </a:solidFill>
              </a:defRPr>
            </a:lvl4pPr>
            <a:lvl5pPr marL="2286000" lvl="4" indent="-317500">
              <a:lnSpc>
                <a:spcPct val="115000"/>
              </a:lnSpc>
              <a:spcBef>
                <a:spcPts val="1600"/>
              </a:spcBef>
              <a:spcAft>
                <a:spcPts val="0"/>
              </a:spcAft>
              <a:buClr>
                <a:schemeClr val="lt2"/>
              </a:buClr>
              <a:buSzPts val="1400"/>
              <a:buChar char="○"/>
              <a:defRPr>
                <a:solidFill>
                  <a:schemeClr val="lt2"/>
                </a:solidFill>
              </a:defRPr>
            </a:lvl5pPr>
            <a:lvl6pPr marL="2743200" lvl="5" indent="-317500">
              <a:lnSpc>
                <a:spcPct val="115000"/>
              </a:lnSpc>
              <a:spcBef>
                <a:spcPts val="1600"/>
              </a:spcBef>
              <a:spcAft>
                <a:spcPts val="0"/>
              </a:spcAft>
              <a:buClr>
                <a:schemeClr val="lt2"/>
              </a:buClr>
              <a:buSzPts val="1400"/>
              <a:buChar char="■"/>
              <a:defRPr>
                <a:solidFill>
                  <a:schemeClr val="lt2"/>
                </a:solidFill>
              </a:defRPr>
            </a:lvl6pPr>
            <a:lvl7pPr marL="3200400" lvl="6" indent="-317500">
              <a:lnSpc>
                <a:spcPct val="115000"/>
              </a:lnSpc>
              <a:spcBef>
                <a:spcPts val="1600"/>
              </a:spcBef>
              <a:spcAft>
                <a:spcPts val="0"/>
              </a:spcAft>
              <a:buClr>
                <a:schemeClr val="lt2"/>
              </a:buClr>
              <a:buSzPts val="1400"/>
              <a:buChar char="●"/>
              <a:defRPr>
                <a:solidFill>
                  <a:schemeClr val="lt2"/>
                </a:solidFill>
              </a:defRPr>
            </a:lvl7pPr>
            <a:lvl8pPr marL="3657600" lvl="7" indent="-317500">
              <a:lnSpc>
                <a:spcPct val="115000"/>
              </a:lnSpc>
              <a:spcBef>
                <a:spcPts val="1600"/>
              </a:spcBef>
              <a:spcAft>
                <a:spcPts val="0"/>
              </a:spcAft>
              <a:buClr>
                <a:schemeClr val="lt2"/>
              </a:buClr>
              <a:buSzPts val="1400"/>
              <a:buChar char="○"/>
              <a:defRPr>
                <a:solidFill>
                  <a:schemeClr val="lt2"/>
                </a:solidFill>
              </a:defRPr>
            </a:lvl8pPr>
            <a:lvl9pPr marL="4114800" lvl="8" indent="-317500">
              <a:lnSpc>
                <a:spcPct val="115000"/>
              </a:lnSpc>
              <a:spcBef>
                <a:spcPts val="1600"/>
              </a:spcBef>
              <a:spcAft>
                <a:spcPts val="160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docs.google.com/presentation/d/1TYL_NaUsSgdq4bBVksKbN0EaEPR9mbZeH51V2WtJon0/edit#slide=id.p"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interaction-design.org/literature/topics/challenge-assumptions"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v6n1i0qojw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hyperlink" Target="https://careerfoundry.com/en/blog/ux-design/10-classic-ux-design-fails/"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dlMW4I4-KGM"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www.interaction-design.org/literature/topics/ui-design"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96450"/>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2000" b="1" dirty="0">
              <a:latin typeface="Century Gothic"/>
              <a:ea typeface="Century Gothic"/>
              <a:cs typeface="Century Gothic"/>
              <a:sym typeface="Century Gothic"/>
            </a:endParaRPr>
          </a:p>
        </p:txBody>
      </p:sp>
      <p:sp>
        <p:nvSpPr>
          <p:cNvPr id="55" name="Google Shape;55;p13"/>
          <p:cNvSpPr txBox="1">
            <a:spLocks noGrp="1"/>
          </p:cNvSpPr>
          <p:nvPr>
            <p:ph type="subTitle" idx="1"/>
          </p:nvPr>
        </p:nvSpPr>
        <p:spPr>
          <a:xfrm>
            <a:off x="311700" y="2048375"/>
            <a:ext cx="8520600" cy="93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E06666"/>
                </a:solidFill>
                <a:latin typeface="Century Gothic"/>
                <a:ea typeface="Century Gothic"/>
                <a:cs typeface="Century Gothic"/>
                <a:sym typeface="Century Gothic"/>
              </a:rPr>
              <a:t>Course Overview</a:t>
            </a:r>
            <a:endParaRPr>
              <a:solidFill>
                <a:srgbClr val="E06666"/>
              </a:solidFill>
              <a:latin typeface="Century Gothic"/>
              <a:ea typeface="Century Gothic"/>
              <a:cs typeface="Century Gothic"/>
              <a:sym typeface="Century Gothic"/>
            </a:endParaRPr>
          </a:p>
        </p:txBody>
      </p:sp>
      <p:pic>
        <p:nvPicPr>
          <p:cNvPr id="56" name="Google Shape;56;p13"/>
          <p:cNvPicPr preferRelativeResize="0"/>
          <p:nvPr/>
        </p:nvPicPr>
        <p:blipFill>
          <a:blip r:embed="rId3">
            <a:alphaModFix/>
          </a:blip>
          <a:stretch>
            <a:fillRect/>
          </a:stretch>
        </p:blipFill>
        <p:spPr>
          <a:xfrm>
            <a:off x="3696800" y="2842575"/>
            <a:ext cx="1838228" cy="18600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76"/>
        <p:cNvGrpSpPr/>
        <p:nvPr/>
      </p:nvGrpSpPr>
      <p:grpSpPr>
        <a:xfrm>
          <a:off x="0" y="0"/>
          <a:ext cx="0" cy="0"/>
          <a:chOff x="0" y="0"/>
          <a:chExt cx="0" cy="0"/>
        </a:xfrm>
      </p:grpSpPr>
      <p:sp>
        <p:nvSpPr>
          <p:cNvPr id="77" name="Google Shape;77;p15"/>
          <p:cNvSpPr txBox="1">
            <a:spLocks noGrp="1"/>
          </p:cNvSpPr>
          <p:nvPr>
            <p:ph type="ctrTitle"/>
          </p:nvPr>
        </p:nvSpPr>
        <p:spPr>
          <a:xfrm>
            <a:off x="311708" y="96450"/>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sz="2000" b="1" dirty="0">
              <a:latin typeface="Century Gothic"/>
              <a:ea typeface="Century Gothic"/>
              <a:cs typeface="Century Gothic"/>
              <a:sym typeface="Century Gothic"/>
            </a:endParaRPr>
          </a:p>
        </p:txBody>
      </p:sp>
      <p:sp>
        <p:nvSpPr>
          <p:cNvPr id="78" name="Google Shape;78;p15"/>
          <p:cNvSpPr txBox="1">
            <a:spLocks noGrp="1"/>
          </p:cNvSpPr>
          <p:nvPr>
            <p:ph type="subTitle" idx="1"/>
          </p:nvPr>
        </p:nvSpPr>
        <p:spPr>
          <a:xfrm>
            <a:off x="311700" y="2048375"/>
            <a:ext cx="8520600" cy="93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E06666"/>
                </a:solidFill>
                <a:latin typeface="Century Gothic"/>
                <a:ea typeface="Century Gothic"/>
                <a:cs typeface="Century Gothic"/>
                <a:sym typeface="Century Gothic"/>
              </a:rPr>
              <a:t>Designing for User Experience</a:t>
            </a:r>
            <a:endParaRPr dirty="0">
              <a:solidFill>
                <a:srgbClr val="E06666"/>
              </a:solidFill>
              <a:latin typeface="Century Gothic"/>
              <a:ea typeface="Century Gothic"/>
              <a:cs typeface="Century Gothic"/>
              <a:sym typeface="Century Gothic"/>
            </a:endParaRPr>
          </a:p>
        </p:txBody>
      </p:sp>
      <p:pic>
        <p:nvPicPr>
          <p:cNvPr id="79" name="Google Shape;79;p15"/>
          <p:cNvPicPr preferRelativeResize="0"/>
          <p:nvPr/>
        </p:nvPicPr>
        <p:blipFill>
          <a:blip r:embed="rId3">
            <a:alphaModFix/>
          </a:blip>
          <a:stretch>
            <a:fillRect/>
          </a:stretch>
        </p:blipFill>
        <p:spPr>
          <a:xfrm>
            <a:off x="3612263" y="2941500"/>
            <a:ext cx="1919476" cy="1919476"/>
          </a:xfrm>
          <a:prstGeom prst="rect">
            <a:avLst/>
          </a:prstGeom>
          <a:noFill/>
          <a:ln>
            <a:noFill/>
          </a:ln>
        </p:spPr>
      </p:pic>
      <p:pic>
        <p:nvPicPr>
          <p:cNvPr id="80" name="Google Shape;80;p15"/>
          <p:cNvPicPr preferRelativeResize="0"/>
          <p:nvPr/>
        </p:nvPicPr>
        <p:blipFill>
          <a:blip r:embed="rId4">
            <a:alphaModFix/>
          </a:blip>
          <a:stretch>
            <a:fillRect/>
          </a:stretch>
        </p:blipFill>
        <p:spPr>
          <a:xfrm>
            <a:off x="8161827" y="74200"/>
            <a:ext cx="921748" cy="744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84"/>
        <p:cNvGrpSpPr/>
        <p:nvPr/>
      </p:nvGrpSpPr>
      <p:grpSpPr>
        <a:xfrm>
          <a:off x="0" y="0"/>
          <a:ext cx="0" cy="0"/>
          <a:chOff x="0" y="0"/>
          <a:chExt cx="0" cy="0"/>
        </a:xfrm>
      </p:grpSpPr>
      <p:sp>
        <p:nvSpPr>
          <p:cNvPr id="85" name="Google Shape;85;p16"/>
          <p:cNvSpPr txBox="1">
            <a:spLocks noGrp="1"/>
          </p:cNvSpPr>
          <p:nvPr>
            <p:ph type="ctrTitle"/>
          </p:nvPr>
        </p:nvSpPr>
        <p:spPr>
          <a:xfrm>
            <a:off x="311700" y="291225"/>
            <a:ext cx="8520600" cy="118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Century Gothic"/>
                <a:ea typeface="Century Gothic"/>
                <a:cs typeface="Century Gothic"/>
                <a:sym typeface="Century Gothic"/>
              </a:rPr>
              <a:t>Design Thinking</a:t>
            </a:r>
            <a:endParaRPr>
              <a:latin typeface="Century Gothic"/>
              <a:ea typeface="Century Gothic"/>
              <a:cs typeface="Century Gothic"/>
              <a:sym typeface="Century Gothic"/>
            </a:endParaRPr>
          </a:p>
        </p:txBody>
      </p:sp>
      <p:sp>
        <p:nvSpPr>
          <p:cNvPr id="86" name="Google Shape;86;p16"/>
          <p:cNvSpPr txBox="1"/>
          <p:nvPr/>
        </p:nvSpPr>
        <p:spPr>
          <a:xfrm>
            <a:off x="311700" y="1928825"/>
            <a:ext cx="8283900" cy="22395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4200"/>
              </a:spcAft>
              <a:buNone/>
            </a:pPr>
            <a:r>
              <a:rPr lang="en" sz="3000">
                <a:solidFill>
                  <a:schemeClr val="dk1"/>
                </a:solidFill>
                <a:latin typeface="Century Gothic"/>
                <a:ea typeface="Century Gothic"/>
                <a:cs typeface="Century Gothic"/>
                <a:sym typeface="Century Gothic"/>
              </a:rPr>
              <a:t>Design thinking is a creative-problem solving approach designers use to create new values that are different and create positive impact.</a:t>
            </a:r>
            <a:endParaRPr sz="100">
              <a:solidFill>
                <a:schemeClr val="dk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0"/>
        <p:cNvGrpSpPr/>
        <p:nvPr/>
      </p:nvGrpSpPr>
      <p:grpSpPr>
        <a:xfrm>
          <a:off x="0" y="0"/>
          <a:ext cx="0" cy="0"/>
          <a:chOff x="0" y="0"/>
          <a:chExt cx="0" cy="0"/>
        </a:xfrm>
      </p:grpSpPr>
      <p:sp>
        <p:nvSpPr>
          <p:cNvPr id="91" name="Google Shape;91;p17"/>
          <p:cNvSpPr txBox="1">
            <a:spLocks noGrp="1"/>
          </p:cNvSpPr>
          <p:nvPr>
            <p:ph type="ctrTitle"/>
          </p:nvPr>
        </p:nvSpPr>
        <p:spPr>
          <a:xfrm>
            <a:off x="311700" y="291225"/>
            <a:ext cx="8520600" cy="118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Century Gothic"/>
                <a:ea typeface="Century Gothic"/>
                <a:cs typeface="Century Gothic"/>
                <a:sym typeface="Century Gothic"/>
              </a:rPr>
              <a:t>Human Centred Design</a:t>
            </a:r>
            <a:endParaRPr>
              <a:latin typeface="Century Gothic"/>
              <a:ea typeface="Century Gothic"/>
              <a:cs typeface="Century Gothic"/>
              <a:sym typeface="Century Gothic"/>
            </a:endParaRPr>
          </a:p>
        </p:txBody>
      </p:sp>
      <p:sp>
        <p:nvSpPr>
          <p:cNvPr id="92" name="Google Shape;92;p17"/>
          <p:cNvSpPr txBox="1"/>
          <p:nvPr/>
        </p:nvSpPr>
        <p:spPr>
          <a:xfrm>
            <a:off x="311700" y="1928825"/>
            <a:ext cx="8283900" cy="3401700"/>
          </a:xfrm>
          <a:prstGeom prst="rect">
            <a:avLst/>
          </a:prstGeom>
          <a:noFill/>
          <a:ln>
            <a:noFill/>
          </a:ln>
        </p:spPr>
        <p:txBody>
          <a:bodyPr spcFirstLastPara="1" wrap="square" lIns="91425" tIns="91425" rIns="91425" bIns="91425" anchor="t" anchorCtr="0">
            <a:spAutoFit/>
          </a:bodyPr>
          <a:lstStyle/>
          <a:p>
            <a:pPr marL="457200" lvl="0" indent="0" algn="l" rtl="0">
              <a:lnSpc>
                <a:spcPct val="100000"/>
              </a:lnSpc>
              <a:spcBef>
                <a:spcPts val="0"/>
              </a:spcBef>
              <a:spcAft>
                <a:spcPts val="0"/>
              </a:spcAft>
              <a:buNone/>
            </a:pPr>
            <a:r>
              <a:rPr lang="en" sz="2400">
                <a:solidFill>
                  <a:schemeClr val="dk1"/>
                </a:solidFill>
                <a:latin typeface="Century Gothic"/>
                <a:ea typeface="Century Gothic"/>
                <a:cs typeface="Century Gothic"/>
                <a:sym typeface="Century Gothic"/>
              </a:rPr>
              <a:t>“User-centered design means understanding what your users need, how they think, and how they behave – and incorporating that understanding into every aspect of your process."</a:t>
            </a:r>
            <a:endParaRPr sz="2400">
              <a:solidFill>
                <a:schemeClr val="dk1"/>
              </a:solidFill>
              <a:latin typeface="Century Gothic"/>
              <a:ea typeface="Century Gothic"/>
              <a:cs typeface="Century Gothic"/>
              <a:sym typeface="Century Gothic"/>
            </a:endParaRPr>
          </a:p>
          <a:p>
            <a:pPr marL="457200" lvl="0" indent="0" algn="l" rtl="0">
              <a:lnSpc>
                <a:spcPct val="100000"/>
              </a:lnSpc>
              <a:spcBef>
                <a:spcPts val="4200"/>
              </a:spcBef>
              <a:spcAft>
                <a:spcPts val="0"/>
              </a:spcAft>
              <a:buNone/>
            </a:pPr>
            <a:r>
              <a:rPr lang="en" sz="1900">
                <a:solidFill>
                  <a:schemeClr val="dk1"/>
                </a:solidFill>
                <a:latin typeface="Century Gothic"/>
                <a:ea typeface="Century Gothic"/>
                <a:cs typeface="Century Gothic"/>
                <a:sym typeface="Century Gothic"/>
              </a:rPr>
              <a:t>Jesse James Garrett — User Experience Designer</a:t>
            </a:r>
            <a:endParaRPr sz="1900">
              <a:solidFill>
                <a:schemeClr val="dk1"/>
              </a:solidFill>
              <a:latin typeface="Century Gothic"/>
              <a:ea typeface="Century Gothic"/>
              <a:cs typeface="Century Gothic"/>
              <a:sym typeface="Century Gothic"/>
            </a:endParaRPr>
          </a:p>
          <a:p>
            <a:pPr marL="457200" lvl="0" indent="0" algn="l" rtl="0">
              <a:lnSpc>
                <a:spcPct val="100000"/>
              </a:lnSpc>
              <a:spcBef>
                <a:spcPts val="4200"/>
              </a:spcBef>
              <a:spcAft>
                <a:spcPts val="4200"/>
              </a:spcAft>
              <a:buNone/>
            </a:pPr>
            <a:endParaRPr sz="2400">
              <a:solidFill>
                <a:schemeClr val="dk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96"/>
        <p:cNvGrpSpPr/>
        <p:nvPr/>
      </p:nvGrpSpPr>
      <p:grpSpPr>
        <a:xfrm>
          <a:off x="0" y="0"/>
          <a:ext cx="0" cy="0"/>
          <a:chOff x="0" y="0"/>
          <a:chExt cx="0" cy="0"/>
        </a:xfrm>
      </p:grpSpPr>
      <p:sp>
        <p:nvSpPr>
          <p:cNvPr id="97" name="Google Shape;97;p18"/>
          <p:cNvSpPr txBox="1">
            <a:spLocks noGrp="1"/>
          </p:cNvSpPr>
          <p:nvPr>
            <p:ph type="ctrTitle"/>
          </p:nvPr>
        </p:nvSpPr>
        <p:spPr>
          <a:xfrm>
            <a:off x="311700" y="291225"/>
            <a:ext cx="8520600" cy="118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Century Gothic"/>
                <a:ea typeface="Century Gothic"/>
                <a:cs typeface="Century Gothic"/>
                <a:sym typeface="Century Gothic"/>
              </a:rPr>
              <a:t>Design Thinking</a:t>
            </a:r>
            <a:endParaRPr>
              <a:latin typeface="Century Gothic"/>
              <a:ea typeface="Century Gothic"/>
              <a:cs typeface="Century Gothic"/>
              <a:sym typeface="Century Gothic"/>
            </a:endParaRPr>
          </a:p>
        </p:txBody>
      </p:sp>
      <p:sp>
        <p:nvSpPr>
          <p:cNvPr id="98" name="Google Shape;98;p18"/>
          <p:cNvSpPr txBox="1"/>
          <p:nvPr/>
        </p:nvSpPr>
        <p:spPr>
          <a:xfrm>
            <a:off x="311700" y="1772200"/>
            <a:ext cx="8283900" cy="33015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4200"/>
              </a:spcAft>
              <a:buNone/>
            </a:pPr>
            <a:r>
              <a:rPr lang="en" sz="3000">
                <a:solidFill>
                  <a:schemeClr val="dk1"/>
                </a:solidFill>
                <a:latin typeface="Century Gothic"/>
                <a:ea typeface="Century Gothic"/>
                <a:cs typeface="Century Gothic"/>
                <a:sym typeface="Century Gothic"/>
              </a:rPr>
              <a:t>Design thinking is created because big/tech and corporations often ‘lack the ability to be creative and in extreme cases, aren’t able to create new products and services’ that meet unmet needs of their customers.</a:t>
            </a:r>
            <a:endParaRPr sz="3000">
              <a:solidFill>
                <a:schemeClr val="dk1"/>
              </a:solidFill>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2"/>
        <p:cNvGrpSpPr/>
        <p:nvPr/>
      </p:nvGrpSpPr>
      <p:grpSpPr>
        <a:xfrm>
          <a:off x="0" y="0"/>
          <a:ext cx="0" cy="0"/>
          <a:chOff x="0" y="0"/>
          <a:chExt cx="0" cy="0"/>
        </a:xfrm>
      </p:grpSpPr>
      <p:sp>
        <p:nvSpPr>
          <p:cNvPr id="103" name="Google Shape;103;p19"/>
          <p:cNvSpPr txBox="1">
            <a:spLocks noGrp="1"/>
          </p:cNvSpPr>
          <p:nvPr>
            <p:ph type="ctrTitle"/>
          </p:nvPr>
        </p:nvSpPr>
        <p:spPr>
          <a:xfrm>
            <a:off x="311700" y="291225"/>
            <a:ext cx="8520600" cy="1184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latin typeface="Century Gothic"/>
                <a:ea typeface="Century Gothic"/>
                <a:cs typeface="Century Gothic"/>
                <a:sym typeface="Century Gothic"/>
              </a:rPr>
              <a:t>Design Thinking</a:t>
            </a:r>
            <a:endParaRPr>
              <a:latin typeface="Century Gothic"/>
              <a:ea typeface="Century Gothic"/>
              <a:cs typeface="Century Gothic"/>
              <a:sym typeface="Century Gothic"/>
            </a:endParaRPr>
          </a:p>
        </p:txBody>
      </p:sp>
      <p:sp>
        <p:nvSpPr>
          <p:cNvPr id="104" name="Google Shape;104;p1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pic>
        <p:nvPicPr>
          <p:cNvPr id="105" name="Google Shape;105;p19"/>
          <p:cNvPicPr preferRelativeResize="0"/>
          <p:nvPr/>
        </p:nvPicPr>
        <p:blipFill>
          <a:blip r:embed="rId3">
            <a:alphaModFix/>
          </a:blip>
          <a:stretch>
            <a:fillRect/>
          </a:stretch>
        </p:blipFill>
        <p:spPr>
          <a:xfrm>
            <a:off x="347575" y="1619624"/>
            <a:ext cx="8448850" cy="2244250"/>
          </a:xfrm>
          <a:prstGeom prst="rect">
            <a:avLst/>
          </a:prstGeom>
          <a:noFill/>
          <a:ln>
            <a:noFill/>
          </a:ln>
        </p:spPr>
      </p:pic>
      <p:sp>
        <p:nvSpPr>
          <p:cNvPr id="106" name="Google Shape;106;p19"/>
          <p:cNvSpPr txBox="1"/>
          <p:nvPr/>
        </p:nvSpPr>
        <p:spPr>
          <a:xfrm>
            <a:off x="311700" y="3702925"/>
            <a:ext cx="8283900" cy="4386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4200"/>
              </a:spcAft>
              <a:buNone/>
            </a:pPr>
            <a:r>
              <a:rPr lang="en" sz="1650">
                <a:solidFill>
                  <a:schemeClr val="dk1"/>
                </a:solidFill>
                <a:latin typeface="Century Gothic"/>
                <a:ea typeface="Century Gothic"/>
                <a:cs typeface="Century Gothic"/>
                <a:sym typeface="Century Gothic"/>
              </a:rPr>
              <a:t>Empathise          Define                     Ideate               Prototype                  Test </a:t>
            </a:r>
            <a:endParaRPr sz="1650">
              <a:solidFill>
                <a:schemeClr val="dk1"/>
              </a:solidFill>
              <a:latin typeface="Century Gothic"/>
              <a:ea typeface="Century Gothic"/>
              <a:cs typeface="Century Gothic"/>
              <a:sym typeface="Century Gothic"/>
            </a:endParaRPr>
          </a:p>
        </p:txBody>
      </p:sp>
      <p:sp>
        <p:nvSpPr>
          <p:cNvPr id="107" name="Google Shape;107;p19"/>
          <p:cNvSpPr txBox="1"/>
          <p:nvPr/>
        </p:nvSpPr>
        <p:spPr>
          <a:xfrm>
            <a:off x="631750" y="4055723"/>
            <a:ext cx="1402800" cy="369300"/>
          </a:xfrm>
          <a:prstGeom prst="rect">
            <a:avLst/>
          </a:prstGeom>
          <a:noFill/>
          <a:ln>
            <a:noFill/>
          </a:ln>
        </p:spPr>
        <p:txBody>
          <a:bodyPr spcFirstLastPara="1" wrap="square" lIns="91425" tIns="91425" rIns="91425" bIns="91425" anchor="t" anchorCtr="0">
            <a:spAutoFit/>
          </a:bodyPr>
          <a:lstStyle/>
          <a:p>
            <a:pPr marL="457200" lvl="0" indent="-457200" algn="l" rtl="0">
              <a:lnSpc>
                <a:spcPct val="115000"/>
              </a:lnSpc>
              <a:spcBef>
                <a:spcPts val="0"/>
              </a:spcBef>
              <a:spcAft>
                <a:spcPts val="4200"/>
              </a:spcAft>
              <a:buNone/>
            </a:pPr>
            <a:r>
              <a:rPr lang="en" sz="1200">
                <a:solidFill>
                  <a:srgbClr val="F4CCCC"/>
                </a:solidFill>
                <a:latin typeface="Century Gothic"/>
                <a:ea typeface="Century Gothic"/>
                <a:cs typeface="Century Gothic"/>
                <a:sym typeface="Century Gothic"/>
              </a:rPr>
              <a:t>– with your users </a:t>
            </a:r>
            <a:endParaRPr sz="1200">
              <a:solidFill>
                <a:srgbClr val="F4CCCC"/>
              </a:solidFill>
              <a:latin typeface="Century Gothic"/>
              <a:ea typeface="Century Gothic"/>
              <a:cs typeface="Century Gothic"/>
              <a:sym typeface="Century Gothic"/>
            </a:endParaRPr>
          </a:p>
        </p:txBody>
      </p:sp>
      <p:sp>
        <p:nvSpPr>
          <p:cNvPr id="108" name="Google Shape;108;p19"/>
          <p:cNvSpPr txBox="1"/>
          <p:nvPr/>
        </p:nvSpPr>
        <p:spPr>
          <a:xfrm>
            <a:off x="2068850" y="4055723"/>
            <a:ext cx="1755000" cy="794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4200"/>
              </a:spcAft>
              <a:buNone/>
            </a:pPr>
            <a:r>
              <a:rPr lang="en" sz="1200">
                <a:solidFill>
                  <a:srgbClr val="F4CCCC"/>
                </a:solidFill>
                <a:latin typeface="Century Gothic"/>
                <a:ea typeface="Century Gothic"/>
                <a:cs typeface="Century Gothic"/>
                <a:sym typeface="Century Gothic"/>
              </a:rPr>
              <a:t>– your users’ needs, their problem, and your insights</a:t>
            </a:r>
            <a:endParaRPr sz="1550">
              <a:solidFill>
                <a:srgbClr val="F4CCCC"/>
              </a:solidFill>
              <a:latin typeface="Century Gothic"/>
              <a:ea typeface="Century Gothic"/>
              <a:cs typeface="Century Gothic"/>
              <a:sym typeface="Century Gothic"/>
            </a:endParaRPr>
          </a:p>
        </p:txBody>
      </p:sp>
      <p:sp>
        <p:nvSpPr>
          <p:cNvPr id="109" name="Google Shape;109;p19"/>
          <p:cNvSpPr txBox="1"/>
          <p:nvPr/>
        </p:nvSpPr>
        <p:spPr>
          <a:xfrm>
            <a:off x="3874025" y="4055723"/>
            <a:ext cx="1953600" cy="1006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4200"/>
              </a:spcAft>
              <a:buNone/>
            </a:pPr>
            <a:r>
              <a:rPr lang="en" sz="1200">
                <a:solidFill>
                  <a:srgbClr val="F4CCCC"/>
                </a:solidFill>
                <a:latin typeface="Century Gothic"/>
                <a:ea typeface="Century Gothic"/>
                <a:cs typeface="Century Gothic"/>
                <a:sym typeface="Century Gothic"/>
              </a:rPr>
              <a:t> – by challenging assumptions and creating ideas for innovative solutions</a:t>
            </a:r>
            <a:endParaRPr sz="1200">
              <a:solidFill>
                <a:srgbClr val="F4CCCC"/>
              </a:solidFill>
              <a:latin typeface="Century Gothic"/>
              <a:ea typeface="Century Gothic"/>
              <a:cs typeface="Century Gothic"/>
              <a:sym typeface="Century Gothic"/>
            </a:endParaRPr>
          </a:p>
        </p:txBody>
      </p:sp>
      <p:sp>
        <p:nvSpPr>
          <p:cNvPr id="110" name="Google Shape;110;p19"/>
          <p:cNvSpPr txBox="1"/>
          <p:nvPr/>
        </p:nvSpPr>
        <p:spPr>
          <a:xfrm>
            <a:off x="5769950" y="4055723"/>
            <a:ext cx="2011200" cy="5817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4200"/>
              </a:spcAft>
              <a:buNone/>
            </a:pPr>
            <a:r>
              <a:rPr lang="en" sz="1200">
                <a:solidFill>
                  <a:srgbClr val="F4CCCC"/>
                </a:solidFill>
                <a:latin typeface="Century Gothic"/>
                <a:ea typeface="Century Gothic"/>
                <a:cs typeface="Century Gothic"/>
                <a:sym typeface="Century Gothic"/>
              </a:rPr>
              <a:t>To start creating solutions</a:t>
            </a:r>
            <a:endParaRPr sz="1200">
              <a:solidFill>
                <a:srgbClr val="F4CCCC"/>
              </a:solidFill>
              <a:latin typeface="Century Gothic"/>
              <a:ea typeface="Century Gothic"/>
              <a:cs typeface="Century Gothic"/>
              <a:sym typeface="Century Gothic"/>
            </a:endParaRPr>
          </a:p>
        </p:txBody>
      </p:sp>
      <p:sp>
        <p:nvSpPr>
          <p:cNvPr id="111" name="Google Shape;111;p19"/>
          <p:cNvSpPr txBox="1"/>
          <p:nvPr/>
        </p:nvSpPr>
        <p:spPr>
          <a:xfrm>
            <a:off x="7667100" y="4055723"/>
            <a:ext cx="1277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4200"/>
              </a:spcAft>
              <a:buNone/>
            </a:pPr>
            <a:r>
              <a:rPr lang="en" sz="1200">
                <a:solidFill>
                  <a:srgbClr val="F4CCCC"/>
                </a:solidFill>
                <a:latin typeface="Century Gothic"/>
                <a:ea typeface="Century Gothic"/>
                <a:cs typeface="Century Gothic"/>
                <a:sym typeface="Century Gothic"/>
              </a:rPr>
              <a:t>- solutions</a:t>
            </a:r>
            <a:endParaRPr sz="1200">
              <a:solidFill>
                <a:srgbClr val="F4CCCC"/>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0"/>
          <p:cNvPicPr preferRelativeResize="0"/>
          <p:nvPr/>
        </p:nvPicPr>
        <p:blipFill>
          <a:blip r:embed="rId3">
            <a:alphaModFix/>
          </a:blip>
          <a:stretch>
            <a:fillRect/>
          </a:stretch>
        </p:blipFill>
        <p:spPr>
          <a:xfrm>
            <a:off x="2122138" y="750425"/>
            <a:ext cx="4899724" cy="3427176"/>
          </a:xfrm>
          <a:prstGeom prst="rect">
            <a:avLst/>
          </a:prstGeom>
          <a:noFill/>
          <a:ln>
            <a:noFill/>
          </a:ln>
        </p:spPr>
      </p:pic>
      <p:sp>
        <p:nvSpPr>
          <p:cNvPr id="117" name="Google Shape;117;p20"/>
          <p:cNvSpPr txBox="1"/>
          <p:nvPr/>
        </p:nvSpPr>
        <p:spPr>
          <a:xfrm>
            <a:off x="2775200" y="4303425"/>
            <a:ext cx="3710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u="sng">
                <a:solidFill>
                  <a:schemeClr val="hlink"/>
                </a:solidFill>
                <a:hlinkClick r:id="rId4"/>
              </a:rPr>
              <a:t>DEEP DIVE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What is UX? </a:t>
            </a:r>
            <a:endParaRPr>
              <a:solidFill>
                <a:srgbClr val="E06666"/>
              </a:solidFill>
            </a:endParaRPr>
          </a:p>
        </p:txBody>
      </p:sp>
      <p:sp>
        <p:nvSpPr>
          <p:cNvPr id="123" name="Google Shape;123;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rgbClr val="FFFFFF"/>
                </a:solidFill>
                <a:latin typeface="Century Gothic"/>
                <a:ea typeface="Century Gothic"/>
                <a:cs typeface="Century Gothic"/>
                <a:sym typeface="Century Gothic"/>
              </a:rPr>
              <a:t>User experience (UX) design is the </a:t>
            </a:r>
            <a:r>
              <a:rPr lang="en" sz="2200" b="1">
                <a:solidFill>
                  <a:srgbClr val="FFFFFF"/>
                </a:solidFill>
                <a:latin typeface="Century Gothic"/>
                <a:ea typeface="Century Gothic"/>
                <a:cs typeface="Century Gothic"/>
                <a:sym typeface="Century Gothic"/>
              </a:rPr>
              <a:t>process</a:t>
            </a:r>
            <a:r>
              <a:rPr lang="en" sz="2200">
                <a:solidFill>
                  <a:srgbClr val="FFFFFF"/>
                </a:solidFill>
                <a:latin typeface="Century Gothic"/>
                <a:ea typeface="Century Gothic"/>
                <a:cs typeface="Century Gothic"/>
                <a:sym typeface="Century Gothic"/>
              </a:rPr>
              <a:t> design teams use to create products that provide </a:t>
            </a:r>
            <a:r>
              <a:rPr lang="en" sz="2200" b="1">
                <a:solidFill>
                  <a:srgbClr val="FFFFFF"/>
                </a:solidFill>
                <a:latin typeface="Century Gothic"/>
                <a:ea typeface="Century Gothic"/>
                <a:cs typeface="Century Gothic"/>
                <a:sym typeface="Century Gothic"/>
              </a:rPr>
              <a:t>meaningful </a:t>
            </a:r>
            <a:r>
              <a:rPr lang="en" sz="2200">
                <a:solidFill>
                  <a:srgbClr val="FFFFFF"/>
                </a:solidFill>
                <a:latin typeface="Century Gothic"/>
                <a:ea typeface="Century Gothic"/>
                <a:cs typeface="Century Gothic"/>
                <a:sym typeface="Century Gothic"/>
              </a:rPr>
              <a:t>and</a:t>
            </a:r>
            <a:r>
              <a:rPr lang="en" sz="2200" b="1">
                <a:solidFill>
                  <a:srgbClr val="FFFFFF"/>
                </a:solidFill>
                <a:latin typeface="Century Gothic"/>
                <a:ea typeface="Century Gothic"/>
                <a:cs typeface="Century Gothic"/>
                <a:sym typeface="Century Gothic"/>
              </a:rPr>
              <a:t> relevant </a:t>
            </a:r>
            <a:r>
              <a:rPr lang="en" sz="2200">
                <a:solidFill>
                  <a:srgbClr val="FFFFFF"/>
                </a:solidFill>
                <a:latin typeface="Century Gothic"/>
                <a:ea typeface="Century Gothic"/>
                <a:cs typeface="Century Gothic"/>
                <a:sym typeface="Century Gothic"/>
              </a:rPr>
              <a:t>experiences to users. </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1600"/>
              </a:spcAft>
              <a:buNone/>
            </a:pPr>
            <a:r>
              <a:rPr lang="en" sz="2200">
                <a:solidFill>
                  <a:srgbClr val="FFFFFF"/>
                </a:solidFill>
                <a:latin typeface="Century Gothic"/>
                <a:ea typeface="Century Gothic"/>
                <a:cs typeface="Century Gothic"/>
                <a:sym typeface="Century Gothic"/>
              </a:rPr>
              <a:t>This involves the design of the entire process of acquiring and integrating the product, including aspects of branding, design, usability and function.</a:t>
            </a: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latin typeface="Century Gothic"/>
                <a:ea typeface="Century Gothic"/>
                <a:cs typeface="Century Gothic"/>
                <a:sym typeface="Century Gothic"/>
              </a:rPr>
              <a:t>Designing for User Experience</a:t>
            </a:r>
            <a:endParaRPr>
              <a:solidFill>
                <a:srgbClr val="E06666"/>
              </a:solidFill>
              <a:latin typeface="Century Gothic"/>
              <a:ea typeface="Century Gothic"/>
              <a:cs typeface="Century Gothic"/>
              <a:sym typeface="Century Gothic"/>
            </a:endParaRPr>
          </a:p>
        </p:txBody>
      </p:sp>
      <p:sp>
        <p:nvSpPr>
          <p:cNvPr id="129" name="Google Shape;129;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50">
                <a:solidFill>
                  <a:schemeClr val="dk1"/>
                </a:solidFill>
                <a:latin typeface="Century Gothic"/>
                <a:ea typeface="Century Gothic"/>
                <a:cs typeface="Century Gothic"/>
                <a:sym typeface="Century Gothic"/>
              </a:rPr>
              <a:t>What’s special about Design Thinking is that designers’ work processes can help us systematically extract, teach, learn and apply human-centered techniques to solve problems in a creative and innovative way – in our designs, in our businesses, in our countries, in our lives.</a:t>
            </a:r>
            <a:endParaRPr sz="1750">
              <a:solidFill>
                <a:schemeClr val="dk1"/>
              </a:solidFill>
              <a:latin typeface="Century Gothic"/>
              <a:ea typeface="Century Gothic"/>
              <a:cs typeface="Century Gothic"/>
              <a:sym typeface="Century Gothic"/>
            </a:endParaRPr>
          </a:p>
          <a:p>
            <a:pPr marL="0" marR="0" lvl="0" indent="0" algn="l" rtl="0">
              <a:lnSpc>
                <a:spcPct val="115000"/>
              </a:lnSpc>
              <a:spcBef>
                <a:spcPts val="1600"/>
              </a:spcBef>
              <a:spcAft>
                <a:spcPts val="0"/>
              </a:spcAft>
              <a:buNone/>
            </a:pPr>
            <a:r>
              <a:rPr lang="en" sz="1750">
                <a:solidFill>
                  <a:schemeClr val="dk1"/>
                </a:solidFill>
                <a:latin typeface="Century Gothic"/>
                <a:ea typeface="Century Gothic"/>
                <a:cs typeface="Century Gothic"/>
                <a:sym typeface="Century Gothic"/>
              </a:rPr>
              <a:t>Design Thinking is an </a:t>
            </a:r>
            <a:r>
              <a:rPr lang="en" sz="1750" b="1">
                <a:solidFill>
                  <a:schemeClr val="dk1"/>
                </a:solidFill>
                <a:latin typeface="Century Gothic"/>
                <a:ea typeface="Century Gothic"/>
                <a:cs typeface="Century Gothic"/>
                <a:sym typeface="Century Gothic"/>
              </a:rPr>
              <a:t>iterative process</a:t>
            </a:r>
            <a:r>
              <a:rPr lang="en" sz="1750">
                <a:solidFill>
                  <a:schemeClr val="dk1"/>
                </a:solidFill>
                <a:latin typeface="Century Gothic"/>
                <a:ea typeface="Century Gothic"/>
                <a:cs typeface="Century Gothic"/>
                <a:sym typeface="Century Gothic"/>
              </a:rPr>
              <a:t> in which we seek to understand the user, </a:t>
            </a:r>
            <a:r>
              <a:rPr lang="en" sz="1750">
                <a:solidFill>
                  <a:schemeClr val="dk1"/>
                </a:solidFill>
                <a:uFill>
                  <a:noFill/>
                </a:uFill>
                <a:latin typeface="Century Gothic"/>
                <a:ea typeface="Century Gothic"/>
                <a:cs typeface="Century Gothic"/>
                <a:sym typeface="Century Gothic"/>
                <a:hlinkClick r:id="rId3">
                  <a:extLst>
                    <a:ext uri="{A12FA001-AC4F-418D-AE19-62706E023703}">
                      <ahyp:hlinkClr xmlns:ahyp="http://schemas.microsoft.com/office/drawing/2018/hyperlinkcolor" val="tx"/>
                    </a:ext>
                  </a:extLst>
                </a:hlinkClick>
              </a:rPr>
              <a:t>challenge assumptions</a:t>
            </a:r>
            <a:r>
              <a:rPr lang="en" sz="1750">
                <a:solidFill>
                  <a:schemeClr val="dk1"/>
                </a:solidFill>
                <a:latin typeface="Century Gothic"/>
                <a:ea typeface="Century Gothic"/>
                <a:cs typeface="Century Gothic"/>
                <a:sym typeface="Century Gothic"/>
              </a:rPr>
              <a:t>, and redefine problems in an attempt to identify alternative strategies and solutions that might not be instantly apparent with our initial level of understanding.</a:t>
            </a:r>
            <a:endParaRPr sz="1750">
              <a:solidFill>
                <a:schemeClr val="dk1"/>
              </a:solidFill>
              <a:latin typeface="Century Gothic"/>
              <a:ea typeface="Century Gothic"/>
              <a:cs typeface="Century Gothic"/>
              <a:sym typeface="Century Gothic"/>
            </a:endParaRPr>
          </a:p>
          <a:p>
            <a:pPr marL="0" marR="0" lvl="0" indent="0" algn="l" rtl="0">
              <a:lnSpc>
                <a:spcPct val="115000"/>
              </a:lnSpc>
              <a:spcBef>
                <a:spcPts val="1600"/>
              </a:spcBef>
              <a:spcAft>
                <a:spcPts val="0"/>
              </a:spcAft>
              <a:buNone/>
            </a:pPr>
            <a:r>
              <a:rPr lang="en" sz="1750">
                <a:solidFill>
                  <a:srgbClr val="F4CCCC"/>
                </a:solidFill>
                <a:latin typeface="Century Gothic"/>
                <a:ea typeface="Century Gothic"/>
                <a:cs typeface="Century Gothic"/>
                <a:sym typeface="Century Gothic"/>
              </a:rPr>
              <a:t>It is most useful when you want to tackle problems that are ill-defined or unknown - and we will use it throughout this subject.</a:t>
            </a:r>
            <a:endParaRPr sz="1750">
              <a:solidFill>
                <a:srgbClr val="F4CCCC"/>
              </a:solidFill>
              <a:latin typeface="Century Gothic"/>
              <a:ea typeface="Century Gothic"/>
              <a:cs typeface="Century Gothic"/>
              <a:sym typeface="Century Gothic"/>
            </a:endParaRPr>
          </a:p>
          <a:p>
            <a:pPr marL="0" lvl="0" indent="0" algn="l" rtl="0">
              <a:spcBef>
                <a:spcPts val="1600"/>
              </a:spcBef>
              <a:spcAft>
                <a:spcPts val="1600"/>
              </a:spcAft>
              <a:buNone/>
            </a:pPr>
            <a:endParaRPr sz="1750">
              <a:solidFill>
                <a:schemeClr val="dk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3"/>
        <p:cNvGrpSpPr/>
        <p:nvPr/>
      </p:nvGrpSpPr>
      <p:grpSpPr>
        <a:xfrm>
          <a:off x="0" y="0"/>
          <a:ext cx="0" cy="0"/>
          <a:chOff x="0" y="0"/>
          <a:chExt cx="0" cy="0"/>
        </a:xfrm>
      </p:grpSpPr>
      <p:pic>
        <p:nvPicPr>
          <p:cNvPr id="134" name="Google Shape;134;p23"/>
          <p:cNvPicPr preferRelativeResize="0"/>
          <p:nvPr/>
        </p:nvPicPr>
        <p:blipFill rotWithShape="1">
          <a:blip r:embed="rId3">
            <a:alphaModFix/>
          </a:blip>
          <a:srcRect b="21562"/>
          <a:stretch/>
        </p:blipFill>
        <p:spPr>
          <a:xfrm>
            <a:off x="778075" y="1624875"/>
            <a:ext cx="7587850" cy="3153224"/>
          </a:xfrm>
          <a:prstGeom prst="rect">
            <a:avLst/>
          </a:prstGeom>
          <a:noFill/>
          <a:ln>
            <a:noFill/>
          </a:ln>
        </p:spPr>
      </p:pic>
      <p:cxnSp>
        <p:nvCxnSpPr>
          <p:cNvPr id="135" name="Google Shape;135;p23"/>
          <p:cNvCxnSpPr/>
          <p:nvPr/>
        </p:nvCxnSpPr>
        <p:spPr>
          <a:xfrm>
            <a:off x="3280625" y="194400"/>
            <a:ext cx="0" cy="1384800"/>
          </a:xfrm>
          <a:prstGeom prst="straightConnector1">
            <a:avLst/>
          </a:prstGeom>
          <a:noFill/>
          <a:ln w="9525" cap="flat" cmpd="sng">
            <a:solidFill>
              <a:schemeClr val="lt2"/>
            </a:solidFill>
            <a:prstDash val="solid"/>
            <a:round/>
            <a:headEnd type="none" w="med" len="med"/>
            <a:tailEnd type="none" w="med" len="med"/>
          </a:ln>
        </p:spPr>
      </p:cxnSp>
      <p:cxnSp>
        <p:nvCxnSpPr>
          <p:cNvPr id="136" name="Google Shape;136;p23"/>
          <p:cNvCxnSpPr/>
          <p:nvPr/>
        </p:nvCxnSpPr>
        <p:spPr>
          <a:xfrm>
            <a:off x="6223300" y="194400"/>
            <a:ext cx="0" cy="1384800"/>
          </a:xfrm>
          <a:prstGeom prst="straightConnector1">
            <a:avLst/>
          </a:prstGeom>
          <a:noFill/>
          <a:ln w="9525" cap="flat" cmpd="sng">
            <a:solidFill>
              <a:schemeClr val="lt2"/>
            </a:solidFill>
            <a:prstDash val="solid"/>
            <a:round/>
            <a:headEnd type="none" w="med" len="med"/>
            <a:tailEnd type="none" w="med" len="med"/>
          </a:ln>
        </p:spPr>
      </p:cxnSp>
      <p:pic>
        <p:nvPicPr>
          <p:cNvPr id="137" name="Google Shape;137;p23"/>
          <p:cNvPicPr preferRelativeResize="0"/>
          <p:nvPr/>
        </p:nvPicPr>
        <p:blipFill>
          <a:blip r:embed="rId4">
            <a:alphaModFix/>
          </a:blip>
          <a:stretch>
            <a:fillRect/>
          </a:stretch>
        </p:blipFill>
        <p:spPr>
          <a:xfrm>
            <a:off x="771675" y="196795"/>
            <a:ext cx="1708414" cy="1380011"/>
          </a:xfrm>
          <a:prstGeom prst="rect">
            <a:avLst/>
          </a:prstGeom>
          <a:noFill/>
          <a:ln>
            <a:noFill/>
          </a:ln>
        </p:spPr>
      </p:pic>
      <p:pic>
        <p:nvPicPr>
          <p:cNvPr id="138" name="Google Shape;138;p23"/>
          <p:cNvPicPr preferRelativeResize="0"/>
          <p:nvPr/>
        </p:nvPicPr>
        <p:blipFill>
          <a:blip r:embed="rId5">
            <a:alphaModFix/>
          </a:blip>
          <a:stretch>
            <a:fillRect/>
          </a:stretch>
        </p:blipFill>
        <p:spPr>
          <a:xfrm>
            <a:off x="3936483" y="170746"/>
            <a:ext cx="1772890" cy="1432109"/>
          </a:xfrm>
          <a:prstGeom prst="rect">
            <a:avLst/>
          </a:prstGeom>
          <a:noFill/>
          <a:ln>
            <a:noFill/>
          </a:ln>
        </p:spPr>
      </p:pic>
      <p:pic>
        <p:nvPicPr>
          <p:cNvPr id="139" name="Google Shape;139;p23"/>
          <p:cNvPicPr preferRelativeResize="0"/>
          <p:nvPr/>
        </p:nvPicPr>
        <p:blipFill>
          <a:blip r:embed="rId6">
            <a:alphaModFix/>
          </a:blip>
          <a:stretch>
            <a:fillRect/>
          </a:stretch>
        </p:blipFill>
        <p:spPr>
          <a:xfrm>
            <a:off x="6728611" y="148725"/>
            <a:ext cx="1827414" cy="1476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latin typeface="Century Gothic"/>
                <a:ea typeface="Century Gothic"/>
                <a:cs typeface="Century Gothic"/>
                <a:sym typeface="Century Gothic"/>
              </a:rPr>
              <a:t>Design Thinking and User Experience Design</a:t>
            </a:r>
            <a:endParaRPr>
              <a:solidFill>
                <a:srgbClr val="E06666"/>
              </a:solidFill>
              <a:latin typeface="Century Gothic"/>
              <a:ea typeface="Century Gothic"/>
              <a:cs typeface="Century Gothic"/>
              <a:sym typeface="Century Gothic"/>
            </a:endParaRPr>
          </a:p>
        </p:txBody>
      </p:sp>
      <p:sp>
        <p:nvSpPr>
          <p:cNvPr id="145" name="Google Shape;145;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50">
                <a:solidFill>
                  <a:schemeClr val="dk1"/>
                </a:solidFill>
                <a:latin typeface="Century Gothic"/>
                <a:ea typeface="Century Gothic"/>
                <a:cs typeface="Century Gothic"/>
                <a:sym typeface="Century Gothic"/>
              </a:rPr>
              <a:t>UX design stems from Design Thinking theory and is simplified for the purposes of commercial design needs.</a:t>
            </a:r>
            <a:endParaRPr sz="1750">
              <a:solidFill>
                <a:schemeClr val="dk1"/>
              </a:solidFill>
              <a:latin typeface="Century Gothic"/>
              <a:ea typeface="Century Gothic"/>
              <a:cs typeface="Century Gothic"/>
              <a:sym typeface="Century Gothic"/>
            </a:endParaRPr>
          </a:p>
          <a:p>
            <a:pPr marL="0" lvl="0" indent="0" algn="l" rtl="0">
              <a:spcBef>
                <a:spcPts val="1600"/>
              </a:spcBef>
              <a:spcAft>
                <a:spcPts val="1600"/>
              </a:spcAft>
              <a:buNone/>
            </a:pPr>
            <a:endParaRPr sz="1750">
              <a:solidFill>
                <a:schemeClr val="dk1"/>
              </a:solidFill>
              <a:latin typeface="Century Gothic"/>
              <a:ea typeface="Century Gothic"/>
              <a:cs typeface="Century Gothic"/>
              <a:sym typeface="Century Gothic"/>
            </a:endParaRPr>
          </a:p>
        </p:txBody>
      </p:sp>
      <p:pic>
        <p:nvPicPr>
          <p:cNvPr id="146" name="Google Shape;146;p24"/>
          <p:cNvPicPr preferRelativeResize="0"/>
          <p:nvPr/>
        </p:nvPicPr>
        <p:blipFill>
          <a:blip r:embed="rId3">
            <a:alphaModFix/>
          </a:blip>
          <a:stretch>
            <a:fillRect/>
          </a:stretch>
        </p:blipFill>
        <p:spPr>
          <a:xfrm>
            <a:off x="914400" y="2547800"/>
            <a:ext cx="7315200" cy="1847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latin typeface="Century Gothic"/>
                <a:ea typeface="Century Gothic"/>
                <a:cs typeface="Century Gothic"/>
                <a:sym typeface="Century Gothic"/>
              </a:rPr>
              <a:t>User Experience Design</a:t>
            </a:r>
            <a:endParaRPr>
              <a:solidFill>
                <a:srgbClr val="E06666"/>
              </a:solidFill>
              <a:latin typeface="Century Gothic"/>
              <a:ea typeface="Century Gothic"/>
              <a:cs typeface="Century Gothic"/>
              <a:sym typeface="Century Gothic"/>
            </a:endParaRPr>
          </a:p>
        </p:txBody>
      </p:sp>
      <p:sp>
        <p:nvSpPr>
          <p:cNvPr id="152" name="Google Shape;152;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sz="2000">
              <a:solidFill>
                <a:srgbClr val="FFFFFF"/>
              </a:solidFill>
              <a:latin typeface="Century Gothic"/>
              <a:ea typeface="Century Gothic"/>
              <a:cs typeface="Century Gothic"/>
              <a:sym typeface="Century Gothic"/>
            </a:endParaRPr>
          </a:p>
        </p:txBody>
      </p:sp>
      <p:pic>
        <p:nvPicPr>
          <p:cNvPr id="153" name="Google Shape;153;p25" descr="Enter the free tutorial that accompanies this video here: https://careerfoundry.com/en/tutorials/ux-design-for-beginners/what-is-ux-design/&#10;&#10;Or sign up for the full course for free here: https://careerfoundry.com/en/short-courses/user-experience-design-for-beginners-short-course-signup&#10;&#10;User experience design is one of the most varied, fast-paced and exciting fields out there — but what is UX design really all about?&#10;&#10;In this fun yet informative video, our Head of Design, Jeffrey Humble, answers the question on everybody's lips: What is UX design?&#10;&#10;We start with a brief historical excursion: where did the term &quot;UX design&quot; come from, and what role did Don Norman and tech giant Apple play?&#10;&#10;We'll then show you some real-life examples of UX design in action — both the good and the bad! Learn what's so great about the banana in terms of UX, and where Apple went wrong with their Magic Mouse 2. &#10;&#10;You'll learn why UX design is so important, and finally get a clear idea of what it is that UX designers actually do. To quote Jeff, you can think of UX designers as licensed simplifiers!&#10;&#10;UX design isn't just for the tech sphere, either. We'll also touch upon why good UX is crucial for just about any business.&#10;&#10;Learn more on our blog or discover our courses.&#10;Blog: https://careerfoundry.com/en/blog/&#10;Courses: http://www.careerfoundry.com" title="What Is UX Design? (Video Guide)">
            <a:hlinkClick r:id="rId3"/>
          </p:cNvPr>
          <p:cNvPicPr preferRelativeResize="0"/>
          <p:nvPr/>
        </p:nvPicPr>
        <p:blipFill>
          <a:blip r:embed="rId4">
            <a:alphaModFix/>
          </a:blip>
          <a:stretch>
            <a:fillRect/>
          </a:stretch>
        </p:blipFill>
        <p:spPr>
          <a:xfrm>
            <a:off x="2362200" y="947925"/>
            <a:ext cx="4572000" cy="3429000"/>
          </a:xfrm>
          <a:prstGeom prst="rect">
            <a:avLst/>
          </a:prstGeom>
          <a:noFill/>
          <a:ln>
            <a:noFill/>
          </a:ln>
        </p:spPr>
      </p:pic>
      <p:sp>
        <p:nvSpPr>
          <p:cNvPr id="154" name="Google Shape;154;p25"/>
          <p:cNvSpPr txBox="1"/>
          <p:nvPr/>
        </p:nvSpPr>
        <p:spPr>
          <a:xfrm>
            <a:off x="560500" y="4327475"/>
            <a:ext cx="80616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50">
                <a:solidFill>
                  <a:schemeClr val="dk1"/>
                </a:solidFill>
                <a:latin typeface="Century Gothic"/>
                <a:ea typeface="Century Gothic"/>
                <a:cs typeface="Century Gothic"/>
                <a:sym typeface="Century Gothic"/>
              </a:rPr>
              <a:t>The term was first coined in 1993 by the cognitive psychologist and designer Don Norman when he worked at Apple Computer — but the UX field is older than the term.</a:t>
            </a:r>
            <a:endParaRPr>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58"/>
        <p:cNvGrpSpPr/>
        <p:nvPr/>
      </p:nvGrpSpPr>
      <p:grpSpPr>
        <a:xfrm>
          <a:off x="0" y="0"/>
          <a:ext cx="0" cy="0"/>
          <a:chOff x="0" y="0"/>
          <a:chExt cx="0" cy="0"/>
        </a:xfrm>
      </p:grpSpPr>
      <p:sp>
        <p:nvSpPr>
          <p:cNvPr id="159" name="Google Shape;159;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What is UX? </a:t>
            </a:r>
            <a:endParaRPr>
              <a:solidFill>
                <a:srgbClr val="E06666"/>
              </a:solidFill>
            </a:endParaRPr>
          </a:p>
        </p:txBody>
      </p:sp>
      <p:sp>
        <p:nvSpPr>
          <p:cNvPr id="160" name="Google Shape;160;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200">
                <a:solidFill>
                  <a:srgbClr val="FFFFFF"/>
                </a:solidFill>
                <a:latin typeface="Century Gothic"/>
                <a:ea typeface="Century Gothic"/>
                <a:cs typeface="Century Gothic"/>
                <a:sym typeface="Century Gothic"/>
              </a:rPr>
              <a:t>Poor UX examples: </a:t>
            </a:r>
            <a:r>
              <a:rPr lang="en" sz="2200">
                <a:solidFill>
                  <a:srgbClr val="FFFFFF"/>
                </a:solidFill>
                <a:uFill>
                  <a:noFill/>
                </a:uFill>
                <a:latin typeface="Century Gothic"/>
                <a:ea typeface="Century Gothic"/>
                <a:cs typeface="Century Gothic"/>
                <a:sym typeface="Century Gothic"/>
                <a:hlinkClick r:id="rId3">
                  <a:extLst>
                    <a:ext uri="{A12FA001-AC4F-418D-AE19-62706E023703}">
                      <ahyp:hlinkClr xmlns:ahyp="http://schemas.microsoft.com/office/drawing/2018/hyperlinkcolor" val="tx"/>
                    </a:ext>
                  </a:extLst>
                </a:hlinkClick>
              </a:rPr>
              <a:t>https://careerfoundry.com/en/blog/ux-design/10-classic-ux-design-fails/</a:t>
            </a:r>
            <a:endParaRPr sz="2200">
              <a:solidFill>
                <a:srgbClr val="FFFFFF"/>
              </a:solidFill>
              <a:latin typeface="Century Gothic"/>
              <a:ea typeface="Century Gothic"/>
              <a:cs typeface="Century Gothic"/>
              <a:sym typeface="Century Gothic"/>
            </a:endParaRPr>
          </a:p>
        </p:txBody>
      </p:sp>
      <p:pic>
        <p:nvPicPr>
          <p:cNvPr id="161" name="Google Shape;161;p26"/>
          <p:cNvPicPr preferRelativeResize="0"/>
          <p:nvPr/>
        </p:nvPicPr>
        <p:blipFill rotWithShape="1">
          <a:blip r:embed="rId4">
            <a:alphaModFix/>
          </a:blip>
          <a:srcRect l="15632" t="9884" r="15625" b="14318"/>
          <a:stretch/>
        </p:blipFill>
        <p:spPr>
          <a:xfrm>
            <a:off x="3345825" y="2231550"/>
            <a:ext cx="1948600" cy="2692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5"/>
        <p:cNvGrpSpPr/>
        <p:nvPr/>
      </p:nvGrpSpPr>
      <p:grpSpPr>
        <a:xfrm>
          <a:off x="0" y="0"/>
          <a:ext cx="0" cy="0"/>
          <a:chOff x="0" y="0"/>
          <a:chExt cx="0" cy="0"/>
        </a:xfrm>
      </p:grpSpPr>
      <p:sp>
        <p:nvSpPr>
          <p:cNvPr id="166" name="Google Shape;166;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The UX Process Explained</a:t>
            </a:r>
            <a:endParaRPr>
              <a:solidFill>
                <a:srgbClr val="E06666"/>
              </a:solidFill>
            </a:endParaRPr>
          </a:p>
          <a:p>
            <a:pPr marL="0" lvl="0" indent="0" algn="l" rtl="0">
              <a:spcBef>
                <a:spcPts val="0"/>
              </a:spcBef>
              <a:spcAft>
                <a:spcPts val="0"/>
              </a:spcAft>
              <a:buNone/>
            </a:pPr>
            <a:endParaRPr/>
          </a:p>
        </p:txBody>
      </p:sp>
      <p:sp>
        <p:nvSpPr>
          <p:cNvPr id="167" name="Google Shape;167;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b="1"/>
          </a:p>
          <a:p>
            <a:pPr marL="0" lvl="0" indent="0" algn="l" rtl="0">
              <a:spcBef>
                <a:spcPts val="1600"/>
              </a:spcBef>
              <a:spcAft>
                <a:spcPts val="1600"/>
              </a:spcAft>
              <a:buNone/>
            </a:pPr>
            <a:endParaRPr/>
          </a:p>
        </p:txBody>
      </p:sp>
      <p:pic>
        <p:nvPicPr>
          <p:cNvPr id="168" name="Google Shape;168;p27" descr="Enter the free tutorial that accompanies this video here:  https://careerfoundry.com/en/tutorials/ux-design-for-beginners/introduction-to-ux-design-process/&#10;&#10;Or sign up for the full course for free here: https://careerfoundry.com/en/short-courses/user-experience-design-for-beginners-short-course&#10;&#10;The principles of user-centered design are changing the way we interact with the world around us. Technology isn't the unscalable mountain it once was — and guess who's responsible for making it so user-friendly? That's right: UX designers!&#10;&#10;But how do they do it?&#10;&#10;In this video, UX Designers Jeffrey Humble and Claire Rackstraw go through the UX design process from start to finish.&#10;&#10;What tasks and projects might a UX designer face on any given day? From user research and personas to wireframes and testing; let our design experts walk you through each step of the process. Get a glimpse of a typical day in the life of a UX designer; you'll soon realize that UX design is one of the most varied roles out there!&#10;&#10;Learn more on our blog or discover our courses.&#10;Blog: https://careerfoundry.com/en/blog/&#10;Full UX Design Course: https://careerfoundry.com/en/courses/become-a-ux-designer" title="The UX Design Process (Explained By Experts)">
            <a:hlinkClick r:id="rId3"/>
          </p:cNvPr>
          <p:cNvPicPr preferRelativeResize="0"/>
          <p:nvPr/>
        </p:nvPicPr>
        <p:blipFill>
          <a:blip r:embed="rId4">
            <a:alphaModFix/>
          </a:blip>
          <a:stretch>
            <a:fillRect/>
          </a:stretch>
        </p:blipFill>
        <p:spPr>
          <a:xfrm>
            <a:off x="2286000" y="1017725"/>
            <a:ext cx="4572000" cy="3429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solidFill>
                  <a:srgbClr val="E06666"/>
                </a:solidFill>
              </a:rPr>
              <a:t>What is UI Design? </a:t>
            </a:r>
            <a:endParaRPr>
              <a:solidFill>
                <a:srgbClr val="E06666"/>
              </a:solidFill>
            </a:endParaRPr>
          </a:p>
        </p:txBody>
      </p:sp>
      <p:sp>
        <p:nvSpPr>
          <p:cNvPr id="174" name="Google Shape;17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rgbClr val="FFFFFF"/>
                </a:solidFill>
                <a:latin typeface="Century Gothic"/>
                <a:ea typeface="Century Gothic"/>
                <a:cs typeface="Century Gothic"/>
                <a:sym typeface="Century Gothic"/>
              </a:rPr>
              <a:t>User interface (UI) design is the process of making interfaces in software or computerized devices with a focus on looks or style. </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Designers aim to create designs users will find easy to use and pleasurable. </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1600"/>
              </a:spcAft>
              <a:buNone/>
            </a:pPr>
            <a:r>
              <a:rPr lang="en" sz="2200">
                <a:solidFill>
                  <a:srgbClr val="FFFFFF"/>
                </a:solidFill>
                <a:latin typeface="Century Gothic"/>
                <a:ea typeface="Century Gothic"/>
                <a:cs typeface="Century Gothic"/>
                <a:sym typeface="Century Gothic"/>
              </a:rPr>
              <a:t>UI design typically refers to </a:t>
            </a:r>
            <a:r>
              <a:rPr lang="en" sz="2200" i="1">
                <a:solidFill>
                  <a:srgbClr val="FFFFFF"/>
                </a:solidFill>
                <a:latin typeface="Century Gothic"/>
                <a:ea typeface="Century Gothic"/>
                <a:cs typeface="Century Gothic"/>
                <a:sym typeface="Century Gothic"/>
              </a:rPr>
              <a:t>graphical user interfaces</a:t>
            </a:r>
            <a:r>
              <a:rPr lang="en" sz="2200">
                <a:solidFill>
                  <a:srgbClr val="FFFFFF"/>
                </a:solidFill>
                <a:latin typeface="Century Gothic"/>
                <a:ea typeface="Century Gothic"/>
                <a:cs typeface="Century Gothic"/>
                <a:sym typeface="Century Gothic"/>
              </a:rPr>
              <a:t> but also includes others, such as voice-controlled ones.</a:t>
            </a: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78"/>
        <p:cNvGrpSpPr/>
        <p:nvPr/>
      </p:nvGrpSpPr>
      <p:grpSpPr>
        <a:xfrm>
          <a:off x="0" y="0"/>
          <a:ext cx="0" cy="0"/>
          <a:chOff x="0" y="0"/>
          <a:chExt cx="0" cy="0"/>
        </a:xfrm>
      </p:grpSpPr>
      <p:pic>
        <p:nvPicPr>
          <p:cNvPr id="179" name="Google Shape;179;p29"/>
          <p:cNvPicPr preferRelativeResize="0"/>
          <p:nvPr/>
        </p:nvPicPr>
        <p:blipFill>
          <a:blip r:embed="rId3">
            <a:alphaModFix/>
          </a:blip>
          <a:stretch>
            <a:fillRect/>
          </a:stretch>
        </p:blipFill>
        <p:spPr>
          <a:xfrm>
            <a:off x="60750" y="447750"/>
            <a:ext cx="4637601" cy="4247999"/>
          </a:xfrm>
          <a:prstGeom prst="rect">
            <a:avLst/>
          </a:prstGeom>
          <a:noFill/>
          <a:ln>
            <a:noFill/>
          </a:ln>
        </p:spPr>
      </p:pic>
      <p:sp>
        <p:nvSpPr>
          <p:cNvPr id="180" name="Google Shape;180;p29"/>
          <p:cNvSpPr txBox="1"/>
          <p:nvPr/>
        </p:nvSpPr>
        <p:spPr>
          <a:xfrm>
            <a:off x="4790225" y="294625"/>
            <a:ext cx="4244700" cy="465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FFFFFF"/>
                </a:solidFill>
                <a:latin typeface="Century Gothic"/>
                <a:ea typeface="Century Gothic"/>
                <a:cs typeface="Century Gothic"/>
                <a:sym typeface="Century Gothic"/>
              </a:rPr>
              <a:t>Often confused with UX design, UI design is more concerned with the surface and overall feel of a design, whereas the latter covers the entire spectrum of the user experience. </a:t>
            </a:r>
            <a:endParaRPr sz="2000">
              <a:solidFill>
                <a:srgbClr val="FFFFFF"/>
              </a:solidFill>
              <a:latin typeface="Century Gothic"/>
              <a:ea typeface="Century Gothic"/>
              <a:cs typeface="Century Gothic"/>
              <a:sym typeface="Century Gothic"/>
            </a:endParaRPr>
          </a:p>
          <a:p>
            <a:pPr marL="0" lvl="0" indent="0" algn="l" rtl="0">
              <a:spcBef>
                <a:spcPts val="0"/>
              </a:spcBef>
              <a:spcAft>
                <a:spcPts val="0"/>
              </a:spcAft>
              <a:buNone/>
            </a:pPr>
            <a:endParaRPr sz="2000">
              <a:solidFill>
                <a:srgbClr val="FFFFFF"/>
              </a:solidFill>
              <a:latin typeface="Century Gothic"/>
              <a:ea typeface="Century Gothic"/>
              <a:cs typeface="Century Gothic"/>
              <a:sym typeface="Century Gothic"/>
            </a:endParaRPr>
          </a:p>
          <a:p>
            <a:pPr marL="0" lvl="0" indent="0" algn="l" rtl="0">
              <a:spcBef>
                <a:spcPts val="0"/>
              </a:spcBef>
              <a:spcAft>
                <a:spcPts val="0"/>
              </a:spcAft>
              <a:buNone/>
            </a:pPr>
            <a:r>
              <a:rPr lang="en" sz="2000">
                <a:solidFill>
                  <a:srgbClr val="FFFFFF"/>
                </a:solidFill>
                <a:latin typeface="Century Gothic"/>
                <a:ea typeface="Century Gothic"/>
                <a:cs typeface="Century Gothic"/>
                <a:sym typeface="Century Gothic"/>
              </a:rPr>
              <a:t>One analogy is to picture UX design as a vehicle with UI design as the driving console. In GUIs, you should create pleasing aesthetics and animations that convey your organization’s values and maximize usability.</a:t>
            </a:r>
            <a:endParaRPr sz="2000">
              <a:solidFill>
                <a:srgbClr val="FFFFFF"/>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Basic Principles of User Interface Design (Video)</a:t>
            </a:r>
            <a:endParaRPr/>
          </a:p>
        </p:txBody>
      </p:sp>
      <p:sp>
        <p:nvSpPr>
          <p:cNvPr id="186" name="Google Shape;186;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200">
                <a:solidFill>
                  <a:srgbClr val="FFFFFF"/>
                </a:solidFill>
                <a:uFill>
                  <a:noFill/>
                </a:uFill>
                <a:latin typeface="Century Gothic"/>
                <a:ea typeface="Century Gothic"/>
                <a:cs typeface="Century Gothic"/>
                <a:sym typeface="Century Gothic"/>
                <a:hlinkClick r:id="rId3">
                  <a:extLst>
                    <a:ext uri="{A12FA001-AC4F-418D-AE19-62706E023703}">
                      <ahyp:hlinkClr xmlns:ahyp="http://schemas.microsoft.com/office/drawing/2018/hyperlinkcolor" val="tx"/>
                    </a:ext>
                  </a:extLst>
                </a:hlinkClick>
              </a:rPr>
              <a:t>https://www.interaction-design.org/literature/topics/ui-design</a:t>
            </a: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UI Test - Fun</a:t>
            </a:r>
            <a:endParaRPr/>
          </a:p>
        </p:txBody>
      </p:sp>
      <p:sp>
        <p:nvSpPr>
          <p:cNvPr id="192" name="Google Shape;192;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https://cantunsee.space/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Embracing Space in Interaction Design</a:t>
            </a:r>
            <a:endParaRPr/>
          </a:p>
        </p:txBody>
      </p:sp>
      <p:sp>
        <p:nvSpPr>
          <p:cNvPr id="198" name="Google Shape;198;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200">
                <a:solidFill>
                  <a:srgbClr val="FFFFFF"/>
                </a:solidFill>
                <a:latin typeface="Century Gothic"/>
                <a:ea typeface="Century Gothic"/>
                <a:cs typeface="Century Gothic"/>
                <a:sym typeface="Century Gothic"/>
              </a:rPr>
              <a:t>https://99designs.com.au/blog/tips/embracing-space-interaction-design/</a:t>
            </a:r>
            <a:endParaRPr sz="2200">
              <a:solidFill>
                <a:srgbClr val="FFFFFF"/>
              </a:solidFill>
              <a:latin typeface="Century Gothic"/>
              <a:ea typeface="Century Gothic"/>
              <a:cs typeface="Century Gothic"/>
              <a:sym typeface="Century Gothic"/>
            </a:endParaRPr>
          </a:p>
        </p:txBody>
      </p:sp>
      <p:pic>
        <p:nvPicPr>
          <p:cNvPr id="199" name="Google Shape;199;p32"/>
          <p:cNvPicPr preferRelativeResize="0"/>
          <p:nvPr/>
        </p:nvPicPr>
        <p:blipFill>
          <a:blip r:embed="rId3">
            <a:alphaModFix/>
          </a:blip>
          <a:stretch>
            <a:fillRect/>
          </a:stretch>
        </p:blipFill>
        <p:spPr>
          <a:xfrm>
            <a:off x="2871422" y="1980850"/>
            <a:ext cx="3112275" cy="2768125"/>
          </a:xfrm>
          <a:prstGeom prst="rect">
            <a:avLst/>
          </a:prstGeom>
          <a:noFill/>
          <a:ln>
            <a:noFill/>
          </a:ln>
        </p:spPr>
      </p:pic>
      <p:sp>
        <p:nvSpPr>
          <p:cNvPr id="200" name="Google Shape;200;p32"/>
          <p:cNvSpPr/>
          <p:nvPr/>
        </p:nvSpPr>
        <p:spPr>
          <a:xfrm>
            <a:off x="3346200" y="3806475"/>
            <a:ext cx="2089500" cy="7965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1" name="Google Shape;201;p32"/>
          <p:cNvCxnSpPr>
            <a:stCxn id="200" idx="3"/>
          </p:cNvCxnSpPr>
          <p:nvPr/>
        </p:nvCxnSpPr>
        <p:spPr>
          <a:xfrm>
            <a:off x="5435700" y="4204725"/>
            <a:ext cx="730800" cy="0"/>
          </a:xfrm>
          <a:prstGeom prst="straightConnector1">
            <a:avLst/>
          </a:prstGeom>
          <a:noFill/>
          <a:ln w="9525" cap="flat" cmpd="sng">
            <a:solidFill>
              <a:srgbClr val="FF0000"/>
            </a:solidFill>
            <a:prstDash val="solid"/>
            <a:round/>
            <a:headEnd type="none" w="med" len="med"/>
            <a:tailEnd type="triangle" w="med" len="med"/>
          </a:ln>
        </p:spPr>
      </p:cxnSp>
      <p:sp>
        <p:nvSpPr>
          <p:cNvPr id="202" name="Google Shape;202;p32"/>
          <p:cNvSpPr txBox="1"/>
          <p:nvPr/>
        </p:nvSpPr>
        <p:spPr>
          <a:xfrm>
            <a:off x="6275950" y="3748025"/>
            <a:ext cx="25563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999999"/>
                </a:solidFill>
              </a:rPr>
              <a:t>Google understands that users want to find things - so the design objective is easy - make it stand out </a:t>
            </a:r>
            <a:endParaRPr>
              <a:solidFill>
                <a:srgbClr val="99999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Basic Principles of User Interface Design</a:t>
            </a:r>
            <a:endParaRPr/>
          </a:p>
        </p:txBody>
      </p:sp>
      <p:sp>
        <p:nvSpPr>
          <p:cNvPr id="208" name="Google Shape;208;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b="1">
                <a:solidFill>
                  <a:srgbClr val="FFFFFF"/>
                </a:solidFill>
                <a:latin typeface="Century Gothic"/>
                <a:ea typeface="Century Gothic"/>
                <a:cs typeface="Century Gothic"/>
                <a:sym typeface="Century Gothic"/>
              </a:rPr>
              <a:t>Ask</a:t>
            </a:r>
            <a:r>
              <a:rPr lang="en" sz="2200">
                <a:solidFill>
                  <a:srgbClr val="FFFFFF"/>
                </a:solidFill>
                <a:latin typeface="Century Gothic"/>
                <a:ea typeface="Century Gothic"/>
                <a:cs typeface="Century Gothic"/>
                <a:sym typeface="Century Gothic"/>
              </a:rPr>
              <a:t> - What is the user doing?</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b="1">
                <a:solidFill>
                  <a:srgbClr val="FFFFFF"/>
                </a:solidFill>
                <a:latin typeface="Century Gothic"/>
                <a:ea typeface="Century Gothic"/>
                <a:cs typeface="Century Gothic"/>
                <a:sym typeface="Century Gothic"/>
              </a:rPr>
              <a:t>Think</a:t>
            </a:r>
            <a:r>
              <a:rPr lang="en" sz="2200">
                <a:solidFill>
                  <a:srgbClr val="FFFFFF"/>
                </a:solidFill>
                <a:latin typeface="Century Gothic"/>
                <a:ea typeface="Century Gothic"/>
                <a:cs typeface="Century Gothic"/>
                <a:sym typeface="Century Gothic"/>
              </a:rPr>
              <a:t> - What information, comparisons, order</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1600"/>
              </a:spcAft>
              <a:buNone/>
            </a:pPr>
            <a:r>
              <a:rPr lang="en" sz="2200" b="1">
                <a:solidFill>
                  <a:srgbClr val="FFFFFF"/>
                </a:solidFill>
                <a:latin typeface="Century Gothic"/>
                <a:ea typeface="Century Gothic"/>
                <a:cs typeface="Century Gothic"/>
                <a:sym typeface="Century Gothic"/>
              </a:rPr>
              <a:t>Design</a:t>
            </a:r>
            <a:r>
              <a:rPr lang="en" sz="2200">
                <a:solidFill>
                  <a:srgbClr val="FFFFFF"/>
                </a:solidFill>
                <a:latin typeface="Century Gothic"/>
                <a:ea typeface="Century Gothic"/>
                <a:cs typeface="Century Gothic"/>
                <a:sym typeface="Century Gothic"/>
              </a:rPr>
              <a:t> - Form follows function</a:t>
            </a: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Basic Principles of User Interface Design</a:t>
            </a:r>
            <a:endParaRPr/>
          </a:p>
        </p:txBody>
      </p:sp>
      <p:sp>
        <p:nvSpPr>
          <p:cNvPr id="214" name="Google Shape;214;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rgbClr val="FFFFFF"/>
                </a:solidFill>
                <a:latin typeface="Century Gothic"/>
                <a:ea typeface="Century Gothic"/>
                <a:cs typeface="Century Gothic"/>
                <a:sym typeface="Century Gothic"/>
              </a:rPr>
              <a:t>Grouping of items</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Order of items</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Decoration - fonts, boxes, bevels etc</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Alignment of items</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1600"/>
              </a:spcAft>
              <a:buNone/>
            </a:pPr>
            <a:r>
              <a:rPr lang="en" sz="2200">
                <a:solidFill>
                  <a:srgbClr val="FFFFFF"/>
                </a:solidFill>
                <a:latin typeface="Century Gothic"/>
                <a:ea typeface="Century Gothic"/>
                <a:cs typeface="Century Gothic"/>
                <a:sym typeface="Century Gothic"/>
              </a:rPr>
              <a:t>White space between items</a:t>
            </a: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18"/>
        <p:cNvGrpSpPr/>
        <p:nvPr/>
      </p:nvGrpSpPr>
      <p:grpSpPr>
        <a:xfrm>
          <a:off x="0" y="0"/>
          <a:ext cx="0" cy="0"/>
          <a:chOff x="0" y="0"/>
          <a:chExt cx="0" cy="0"/>
        </a:xfrm>
      </p:grpSpPr>
      <p:pic>
        <p:nvPicPr>
          <p:cNvPr id="219" name="Google Shape;219;p35"/>
          <p:cNvPicPr preferRelativeResize="0"/>
          <p:nvPr/>
        </p:nvPicPr>
        <p:blipFill>
          <a:blip r:embed="rId3">
            <a:alphaModFix/>
          </a:blip>
          <a:stretch>
            <a:fillRect/>
          </a:stretch>
        </p:blipFill>
        <p:spPr>
          <a:xfrm>
            <a:off x="2708596" y="0"/>
            <a:ext cx="7084253" cy="7615549"/>
          </a:xfrm>
          <a:prstGeom prst="rect">
            <a:avLst/>
          </a:prstGeom>
          <a:noFill/>
          <a:ln>
            <a:noFill/>
          </a:ln>
        </p:spPr>
      </p:pic>
      <p:sp>
        <p:nvSpPr>
          <p:cNvPr id="220" name="Google Shape;220;p35"/>
          <p:cNvSpPr txBox="1">
            <a:spLocks noGrp="1"/>
          </p:cNvSpPr>
          <p:nvPr>
            <p:ph type="title"/>
          </p:nvPr>
        </p:nvSpPr>
        <p:spPr>
          <a:xfrm>
            <a:off x="311700" y="445025"/>
            <a:ext cx="3695700" cy="10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Grouping of relevant content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24"/>
        <p:cNvGrpSpPr/>
        <p:nvPr/>
      </p:nvGrpSpPr>
      <p:grpSpPr>
        <a:xfrm>
          <a:off x="0" y="0"/>
          <a:ext cx="0" cy="0"/>
          <a:chOff x="0" y="0"/>
          <a:chExt cx="0" cy="0"/>
        </a:xfrm>
      </p:grpSpPr>
      <p:sp>
        <p:nvSpPr>
          <p:cNvPr id="225" name="Google Shape;225;p36"/>
          <p:cNvSpPr txBox="1">
            <a:spLocks noGrp="1"/>
          </p:cNvSpPr>
          <p:nvPr>
            <p:ph type="title"/>
          </p:nvPr>
        </p:nvSpPr>
        <p:spPr>
          <a:xfrm>
            <a:off x="311700" y="445025"/>
            <a:ext cx="5737500" cy="10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Serif vs Sans Serif</a:t>
            </a:r>
            <a:endParaRPr/>
          </a:p>
        </p:txBody>
      </p:sp>
      <p:pic>
        <p:nvPicPr>
          <p:cNvPr id="226" name="Google Shape;226;p36"/>
          <p:cNvPicPr preferRelativeResize="0"/>
          <p:nvPr/>
        </p:nvPicPr>
        <p:blipFill>
          <a:blip r:embed="rId3">
            <a:alphaModFix/>
          </a:blip>
          <a:stretch>
            <a:fillRect/>
          </a:stretch>
        </p:blipFill>
        <p:spPr>
          <a:xfrm>
            <a:off x="3143250" y="1170650"/>
            <a:ext cx="2857500" cy="1581150"/>
          </a:xfrm>
          <a:prstGeom prst="rect">
            <a:avLst/>
          </a:prstGeom>
          <a:noFill/>
          <a:ln>
            <a:noFill/>
          </a:ln>
        </p:spPr>
      </p:pic>
      <p:sp>
        <p:nvSpPr>
          <p:cNvPr id="227" name="Google Shape;227;p36"/>
          <p:cNvSpPr txBox="1">
            <a:spLocks noGrp="1"/>
          </p:cNvSpPr>
          <p:nvPr>
            <p:ph type="body" idx="1"/>
          </p:nvPr>
        </p:nvSpPr>
        <p:spPr>
          <a:xfrm>
            <a:off x="311700" y="2888025"/>
            <a:ext cx="8520600" cy="1680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200">
                <a:solidFill>
                  <a:srgbClr val="FFFFFF"/>
                </a:solidFill>
                <a:latin typeface="Century Gothic"/>
                <a:ea typeface="Century Gothic"/>
                <a:cs typeface="Century Gothic"/>
                <a:sym typeface="Century Gothic"/>
              </a:rPr>
              <a:t>To break it down very simply, Serif fonts are easily readable at small body copy sizes, and Sans Serif fonts really stand out in large titles. There are many exceptions to this, but that is the most common usage. One major exception is </a:t>
            </a:r>
            <a:r>
              <a:rPr lang="en" sz="2200" b="1">
                <a:solidFill>
                  <a:srgbClr val="FFFFFF"/>
                </a:solidFill>
                <a:latin typeface="Century Gothic"/>
                <a:ea typeface="Century Gothic"/>
                <a:cs typeface="Century Gothic"/>
                <a:sym typeface="Century Gothic"/>
              </a:rPr>
              <a:t>on screen</a:t>
            </a:r>
            <a:r>
              <a:rPr lang="en" sz="2200">
                <a:solidFill>
                  <a:srgbClr val="FFFFFF"/>
                </a:solidFill>
                <a:latin typeface="Century Gothic"/>
                <a:ea typeface="Century Gothic"/>
                <a:cs typeface="Century Gothic"/>
                <a:sym typeface="Century Gothic"/>
              </a:rPr>
              <a:t>.</a:t>
            </a: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Basic Principles of User Interface Design</a:t>
            </a:r>
            <a:endParaRPr/>
          </a:p>
        </p:txBody>
      </p:sp>
      <p:sp>
        <p:nvSpPr>
          <p:cNvPr id="233" name="Google Shape;233;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rgbClr val="FFFFFF"/>
                </a:solidFill>
                <a:latin typeface="Century Gothic"/>
                <a:ea typeface="Century Gothic"/>
                <a:cs typeface="Century Gothic"/>
                <a:sym typeface="Century Gothic"/>
              </a:rPr>
              <a:t>Grouping &amp; Structure</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If they belong together logically - physically group them</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1600"/>
              </a:spcAft>
              <a:buNone/>
            </a:pPr>
            <a:endParaRPr sz="2200">
              <a:solidFill>
                <a:srgbClr val="FFFFFF"/>
              </a:solidFill>
              <a:latin typeface="Century Gothic"/>
              <a:ea typeface="Century Gothic"/>
              <a:cs typeface="Century Gothic"/>
              <a:sym typeface="Century Gothic"/>
            </a:endParaRPr>
          </a:p>
        </p:txBody>
      </p:sp>
      <p:pic>
        <p:nvPicPr>
          <p:cNvPr id="234" name="Google Shape;234;p37"/>
          <p:cNvPicPr preferRelativeResize="0"/>
          <p:nvPr/>
        </p:nvPicPr>
        <p:blipFill>
          <a:blip r:embed="rId3">
            <a:alphaModFix/>
          </a:blip>
          <a:stretch>
            <a:fillRect/>
          </a:stretch>
        </p:blipFill>
        <p:spPr>
          <a:xfrm>
            <a:off x="2409825" y="2391413"/>
            <a:ext cx="4324350" cy="1914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8"/>
        <p:cNvGrpSpPr/>
        <p:nvPr/>
      </p:nvGrpSpPr>
      <p:grpSpPr>
        <a:xfrm>
          <a:off x="0" y="0"/>
          <a:ext cx="0" cy="0"/>
          <a:chOff x="0" y="0"/>
          <a:chExt cx="0" cy="0"/>
        </a:xfrm>
      </p:grpSpPr>
      <p:sp>
        <p:nvSpPr>
          <p:cNvPr id="239" name="Google Shape;239;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Basic Principles of User Interface Design</a:t>
            </a:r>
            <a:endParaRPr/>
          </a:p>
        </p:txBody>
      </p:sp>
      <p:sp>
        <p:nvSpPr>
          <p:cNvPr id="240" name="Google Shape;240;p38"/>
          <p:cNvSpPr txBox="1">
            <a:spLocks noGrp="1"/>
          </p:cNvSpPr>
          <p:nvPr>
            <p:ph type="body" idx="1"/>
          </p:nvPr>
        </p:nvSpPr>
        <p:spPr>
          <a:xfrm>
            <a:off x="311700" y="1152475"/>
            <a:ext cx="87621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rgbClr val="FFFFFF"/>
                </a:solidFill>
                <a:latin typeface="Century Gothic"/>
                <a:ea typeface="Century Gothic"/>
                <a:cs typeface="Century Gothic"/>
                <a:sym typeface="Century Gothic"/>
              </a:rPr>
              <a:t>Order of Groups and Items</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Think - what is the natural order, what sequentially makes sense. </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Should match the screen order - use boxes, space etc.</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Set up tabbing to visually group relevant items</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Do not give an instruction if a later instruction conflicts with it or would have been beneficial earlier </a:t>
            </a:r>
            <a:br>
              <a:rPr lang="en" sz="2200">
                <a:solidFill>
                  <a:srgbClr val="FFFFFF"/>
                </a:solidFill>
                <a:latin typeface="Century Gothic"/>
                <a:ea typeface="Century Gothic"/>
                <a:cs typeface="Century Gothic"/>
                <a:sym typeface="Century Gothic"/>
              </a:rPr>
            </a:br>
            <a:r>
              <a:rPr lang="en" sz="2200">
                <a:solidFill>
                  <a:srgbClr val="FFFFFF"/>
                </a:solidFill>
                <a:latin typeface="Century Gothic"/>
                <a:ea typeface="Century Gothic"/>
                <a:cs typeface="Century Gothic"/>
                <a:sym typeface="Century Gothic"/>
              </a:rPr>
              <a:t>Eg: </a:t>
            </a:r>
            <a:r>
              <a:rPr lang="en" sz="2000">
                <a:solidFill>
                  <a:srgbClr val="FFFFFF"/>
                </a:solidFill>
                <a:latin typeface="Century Gothic"/>
                <a:ea typeface="Century Gothic"/>
                <a:cs typeface="Century Gothic"/>
                <a:sym typeface="Century Gothic"/>
              </a:rPr>
              <a:t>(mix flour and milk, add the fruit after beating them) </a:t>
            </a:r>
            <a:endParaRPr sz="20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endParaRPr sz="2200">
              <a:solidFill>
                <a:srgbClr val="FFFFFF"/>
              </a:solidFill>
              <a:latin typeface="Century Gothic"/>
              <a:ea typeface="Century Gothic"/>
              <a:cs typeface="Century Gothic"/>
              <a:sym typeface="Century Gothic"/>
            </a:endParaRPr>
          </a:p>
          <a:p>
            <a:pPr marL="0" lvl="0" indent="0" algn="l" rtl="0">
              <a:spcBef>
                <a:spcPts val="1600"/>
              </a:spcBef>
              <a:spcAft>
                <a:spcPts val="1600"/>
              </a:spcAft>
              <a:buNone/>
            </a:pP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4"/>
        <p:cNvGrpSpPr/>
        <p:nvPr/>
      </p:nvGrpSpPr>
      <p:grpSpPr>
        <a:xfrm>
          <a:off x="0" y="0"/>
          <a:ext cx="0" cy="0"/>
          <a:chOff x="0" y="0"/>
          <a:chExt cx="0" cy="0"/>
        </a:xfrm>
      </p:grpSpPr>
      <p:sp>
        <p:nvSpPr>
          <p:cNvPr id="245" name="Google Shape;245;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Basic Principles of User Interface Design</a:t>
            </a:r>
            <a:endParaRPr/>
          </a:p>
        </p:txBody>
      </p:sp>
      <p:sp>
        <p:nvSpPr>
          <p:cNvPr id="246" name="Google Shape;246;p39"/>
          <p:cNvSpPr txBox="1">
            <a:spLocks noGrp="1"/>
          </p:cNvSpPr>
          <p:nvPr>
            <p:ph type="body" idx="1"/>
          </p:nvPr>
        </p:nvSpPr>
        <p:spPr>
          <a:xfrm>
            <a:off x="311700" y="1152475"/>
            <a:ext cx="87621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solidFill>
                  <a:srgbClr val="FFFFFF"/>
                </a:solidFill>
                <a:latin typeface="Century Gothic"/>
                <a:ea typeface="Century Gothic"/>
                <a:cs typeface="Century Gothic"/>
                <a:sym typeface="Century Gothic"/>
              </a:rPr>
              <a:t>Use boxes (or tints) to group logical items</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Use fonts for emphasis, headings - limit these</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Align text for optimal reading or effect</a:t>
            </a:r>
            <a:endParaRPr sz="2200">
              <a:solidFill>
                <a:srgbClr val="FFFFFF"/>
              </a:solidFill>
              <a:latin typeface="Century Gothic"/>
              <a:ea typeface="Century Gothic"/>
              <a:cs typeface="Century Gothic"/>
              <a:sym typeface="Century Gothic"/>
            </a:endParaRPr>
          </a:p>
          <a:p>
            <a:pPr marL="0" lvl="0" indent="0" algn="l" rtl="0">
              <a:spcBef>
                <a:spcPts val="1600"/>
              </a:spcBef>
              <a:spcAft>
                <a:spcPts val="0"/>
              </a:spcAft>
              <a:buNone/>
            </a:pPr>
            <a:r>
              <a:rPr lang="en" sz="2200">
                <a:solidFill>
                  <a:srgbClr val="FFFFFF"/>
                </a:solidFill>
                <a:latin typeface="Century Gothic"/>
                <a:ea typeface="Century Gothic"/>
                <a:cs typeface="Century Gothic"/>
                <a:sym typeface="Century Gothic"/>
              </a:rPr>
              <a:t>Consider the ability to read across gaps (forms, tabbed areas)</a:t>
            </a:r>
            <a:endParaRPr sz="2200">
              <a:solidFill>
                <a:srgbClr val="FFFFFF"/>
              </a:solidFill>
              <a:latin typeface="Century Gothic"/>
              <a:ea typeface="Century Gothic"/>
              <a:cs typeface="Century Gothic"/>
              <a:sym typeface="Century Gothic"/>
            </a:endParaRPr>
          </a:p>
          <a:p>
            <a:pPr marL="457200" lvl="0" indent="-368300" algn="l" rtl="0">
              <a:spcBef>
                <a:spcPts val="1600"/>
              </a:spcBef>
              <a:spcAft>
                <a:spcPts val="0"/>
              </a:spcAft>
              <a:buClr>
                <a:srgbClr val="FFFFFF"/>
              </a:buClr>
              <a:buSzPts val="2200"/>
              <a:buFont typeface="Century Gothic"/>
              <a:buChar char="●"/>
            </a:pPr>
            <a:r>
              <a:rPr lang="en" sz="2200">
                <a:solidFill>
                  <a:srgbClr val="FFFFFF"/>
                </a:solidFill>
                <a:latin typeface="Century Gothic"/>
                <a:ea typeface="Century Gothic"/>
                <a:cs typeface="Century Gothic"/>
                <a:sym typeface="Century Gothic"/>
              </a:rPr>
              <a:t>Use leaders or alternating coloured rows</a:t>
            </a:r>
            <a:endParaRPr sz="2200">
              <a:solidFill>
                <a:srgbClr val="FFFFFF"/>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E06666"/>
                </a:solidFill>
              </a:rPr>
              <a:t>User Research</a:t>
            </a:r>
            <a:endParaRPr/>
          </a:p>
        </p:txBody>
      </p:sp>
      <p:sp>
        <p:nvSpPr>
          <p:cNvPr id="257" name="Google Shape;257;p41"/>
          <p:cNvSpPr txBox="1">
            <a:spLocks noGrp="1"/>
          </p:cNvSpPr>
          <p:nvPr>
            <p:ph type="body" idx="1"/>
          </p:nvPr>
        </p:nvSpPr>
        <p:spPr>
          <a:xfrm>
            <a:off x="311700" y="1152475"/>
            <a:ext cx="83724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a:solidFill>
                  <a:srgbClr val="FFFFFF"/>
                </a:solidFill>
                <a:latin typeface="Century Gothic"/>
                <a:ea typeface="Century Gothic"/>
                <a:cs typeface="Century Gothic"/>
                <a:sym typeface="Century Gothic"/>
              </a:rPr>
              <a:t>User research is the </a:t>
            </a:r>
            <a:r>
              <a:rPr lang="en" sz="2400" b="1">
                <a:solidFill>
                  <a:srgbClr val="FFFFFF"/>
                </a:solidFill>
                <a:latin typeface="Century Gothic"/>
                <a:ea typeface="Century Gothic"/>
                <a:cs typeface="Century Gothic"/>
                <a:sym typeface="Century Gothic"/>
              </a:rPr>
              <a:t>systematic study</a:t>
            </a:r>
            <a:r>
              <a:rPr lang="en" sz="2400">
                <a:solidFill>
                  <a:srgbClr val="FFFFFF"/>
                </a:solidFill>
                <a:latin typeface="Century Gothic"/>
                <a:ea typeface="Century Gothic"/>
                <a:cs typeface="Century Gothic"/>
                <a:sym typeface="Century Gothic"/>
              </a:rPr>
              <a:t> of the </a:t>
            </a:r>
            <a:r>
              <a:rPr lang="en" sz="2400" b="1">
                <a:solidFill>
                  <a:srgbClr val="FFFFFF"/>
                </a:solidFill>
                <a:latin typeface="Century Gothic"/>
                <a:ea typeface="Century Gothic"/>
                <a:cs typeface="Century Gothic"/>
                <a:sym typeface="Century Gothic"/>
              </a:rPr>
              <a:t>goals</a:t>
            </a:r>
            <a:r>
              <a:rPr lang="en" sz="2400">
                <a:solidFill>
                  <a:srgbClr val="FFFFFF"/>
                </a:solidFill>
                <a:latin typeface="Century Gothic"/>
                <a:ea typeface="Century Gothic"/>
                <a:cs typeface="Century Gothic"/>
                <a:sym typeface="Century Gothic"/>
              </a:rPr>
              <a:t>, </a:t>
            </a:r>
            <a:r>
              <a:rPr lang="en" sz="2400" b="1">
                <a:solidFill>
                  <a:srgbClr val="FFFFFF"/>
                </a:solidFill>
                <a:latin typeface="Century Gothic"/>
                <a:ea typeface="Century Gothic"/>
                <a:cs typeface="Century Gothic"/>
                <a:sym typeface="Century Gothic"/>
              </a:rPr>
              <a:t>needs</a:t>
            </a:r>
            <a:r>
              <a:rPr lang="en" sz="2400">
                <a:solidFill>
                  <a:srgbClr val="FFFFFF"/>
                </a:solidFill>
                <a:latin typeface="Century Gothic"/>
                <a:ea typeface="Century Gothic"/>
                <a:cs typeface="Century Gothic"/>
                <a:sym typeface="Century Gothic"/>
              </a:rPr>
              <a:t>, and </a:t>
            </a:r>
            <a:r>
              <a:rPr lang="en" sz="2400" b="1">
                <a:solidFill>
                  <a:srgbClr val="FFFFFF"/>
                </a:solidFill>
                <a:latin typeface="Century Gothic"/>
                <a:ea typeface="Century Gothic"/>
                <a:cs typeface="Century Gothic"/>
                <a:sym typeface="Century Gothic"/>
              </a:rPr>
              <a:t>capabilities</a:t>
            </a:r>
            <a:r>
              <a:rPr lang="en" sz="2400">
                <a:solidFill>
                  <a:srgbClr val="FFFFFF"/>
                </a:solidFill>
                <a:latin typeface="Century Gothic"/>
                <a:ea typeface="Century Gothic"/>
                <a:cs typeface="Century Gothic"/>
                <a:sym typeface="Century Gothic"/>
              </a:rPr>
              <a:t> of </a:t>
            </a:r>
            <a:r>
              <a:rPr lang="en" sz="2400" b="1">
                <a:solidFill>
                  <a:srgbClr val="FFFFFF"/>
                </a:solidFill>
                <a:latin typeface="Century Gothic"/>
                <a:ea typeface="Century Gothic"/>
                <a:cs typeface="Century Gothic"/>
                <a:sym typeface="Century Gothic"/>
              </a:rPr>
              <a:t>users</a:t>
            </a:r>
            <a:r>
              <a:rPr lang="en" sz="2400">
                <a:solidFill>
                  <a:srgbClr val="FFFFFF"/>
                </a:solidFill>
                <a:latin typeface="Century Gothic"/>
                <a:ea typeface="Century Gothic"/>
                <a:cs typeface="Century Gothic"/>
                <a:sym typeface="Century Gothic"/>
              </a:rPr>
              <a:t> so as to specify the design, construction, or improvement of tools to benefit how users work and live.</a:t>
            </a:r>
            <a:endParaRPr sz="2400">
              <a:solidFill>
                <a:srgbClr val="FFFFFF"/>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916</Words>
  <Application>Microsoft Office PowerPoint</Application>
  <PresentationFormat>On-screen Show (16:9)</PresentationFormat>
  <Paragraphs>75</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Century Gothic</vt:lpstr>
      <vt:lpstr>Simple Dark</vt:lpstr>
      <vt:lpstr>PowerPoint Presentation</vt:lpstr>
      <vt:lpstr>PowerPoint Presentation</vt:lpstr>
      <vt:lpstr>Design Thinking</vt:lpstr>
      <vt:lpstr>Human Centred Design</vt:lpstr>
      <vt:lpstr>Design Thinking</vt:lpstr>
      <vt:lpstr>Design Thinking</vt:lpstr>
      <vt:lpstr>PowerPoint Presentation</vt:lpstr>
      <vt:lpstr>What is UX? </vt:lpstr>
      <vt:lpstr>Designing for User Experience</vt:lpstr>
      <vt:lpstr>PowerPoint Presentation</vt:lpstr>
      <vt:lpstr>Design Thinking and User Experience Design</vt:lpstr>
      <vt:lpstr>User Experience Design</vt:lpstr>
      <vt:lpstr>What is UX? </vt:lpstr>
      <vt:lpstr>The UX Process Explained </vt:lpstr>
      <vt:lpstr>What is UI Design? </vt:lpstr>
      <vt:lpstr>PowerPoint Presentation</vt:lpstr>
      <vt:lpstr>Basic Principles of User Interface Design (Video)</vt:lpstr>
      <vt:lpstr>UI Test - Fun</vt:lpstr>
      <vt:lpstr>Embracing Space in Interaction Design</vt:lpstr>
      <vt:lpstr>Basic Principles of User Interface Design</vt:lpstr>
      <vt:lpstr>Basic Principles of User Interface Design</vt:lpstr>
      <vt:lpstr>Grouping of relevant content</vt:lpstr>
      <vt:lpstr>Serif vs Sans Serif</vt:lpstr>
      <vt:lpstr>Basic Principles of User Interface Design</vt:lpstr>
      <vt:lpstr>Basic Principles of User Interface Design</vt:lpstr>
      <vt:lpstr>Basic Principles of User Interface Design</vt:lpstr>
      <vt:lpstr>User Research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Christopher D'Souza</cp:lastModifiedBy>
  <cp:revision>3</cp:revision>
  <dcterms:modified xsi:type="dcterms:W3CDTF">2025-02-04T01:10:52Z</dcterms:modified>
</cp:coreProperties>
</file>